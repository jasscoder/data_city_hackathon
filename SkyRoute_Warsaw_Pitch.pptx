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we are [team]. In one sentence: SkyRoute is Google Maps for drones. You type two Warsaw addresses, and we compute a drone route that flies around airports, military sites, government buildings and tall buildings, then we simulate the flight and dispatch a drone from a fleet. (About 20 seconds.)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is this hard? Three reasons. First, the direct line between two addresses often crosses an airport, a military site or a government building. Second, Warsaw is vertical: Varso Tower is 310 metres, so what is flyable depends on altitude. Third, we checked: the Polish air navigation agency publishes drone zones only as a viewer map; there is no open machine-readable file a planner can use. (About 35 seconds.)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SkyRoute does three things in one map. Plan: you type two addresses, we match the exact building from the official address register and compute a route that avoids every red area, using live wind. Simulate: a virtual drone flies the route and returns on a separately calculated, validated route. Dispatch: for a blood, AED or food order we pick the nearest hospital as pickup and the drone that can do the round trip fastest. (About 35 seconds.)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the hood every route goes through one pipeline. We geocode with the official GUGiK address register. We load the red areas: airspace zones, plus 565 OpenStreetMap footprints of airports, military sites and government buildings, plus building heights. A* searches a 25-metre grid covering all of Warsaw, never cutting corners. The final line is checked again against the exact polygons, and the ETA uses live wind from Open-Meteo. Key point: the map and the router use the same data, so red on the map means avoided in the air. (About 40 seconds.)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Quickly, what it is built with. Frontend: Angular 22 with Angular Material and a Leaflet map on OpenStreetMap tiles. Backend: Python and FastAPI, with Shapely, PyProj and NumPy for geometry, our own A* search on a 25-metre grid, and SQLite for the simulated fleet. All data is open: the official GUGiK boundary and address register, OpenStreetMap for buildings and the red areas, Nominatim for place search and Open-Meteo for live wind. (About 20 seconds.)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numbers. We cover all 18 districts on the official city boundary, not a small demo square. 189 thousand building footprints with heights. 565 red areas the drone always avoids: both airports, 86 military sites and 477 government buildings including the Sejm and the Ministry of Defence. And a typical route calculates in under 250 milliseconds, even across the whole city. (About 30 seconds.)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live demo. Step 1: pick a start west of Chopin Airport and a destination east of it. Point out that the straight line crosses the airport and the route goes around the red grounds; in our test that was a 6.6 km detour that touched none of the 565 red areas. Step 2: press Start Simulation, switch to 10x. The drone flies to B, shows Destination Reached, then flies a separately calculated return route back to A. Step 3: open the Fleet dashboard, choose Blood delivery, enter Korotyńskiego 19 as the delivery address. The nearest hospital, the University Clinical Centre at Banacha 1.4 km away, becomes the pickup, and a drone is reserved within seconds. Backup if the network fails: the app falls back to sample wind and map clicks still work offline. (About 90 seconds.)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was a design rule, not an afterthought. There are no shortcuts: emergency mode gets no special access, and when no safe route exists we say NO_ROUTE rather than invent one. It is tested: 342 backend and 180 frontend automated tests, plus live end-to-end runs with real addresses. Official data is a drop-in: give us a permitted PAŻP export in the ED-269 format and real zones turn red without code changes. And we are clear that this is planning and simulation; it never controls a drone or claims legality. (About 35 seconds.)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next? Three steps. Official zones: with a permitted PAŻP export, the airport control zones, which are much larger than the airport grounds, are covered too. A hospital pilot: plan blood and AED runs with one Warsaw hospital and its real landing spot. Fleet operators: connect real depots and drones to the dispatch layer we already built. SkyRoute Warsaw: safe drone routes for the whole city. Thank you, happy to take questions. (About 30 seconds.)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90000" y="2222500"/>
            <a:ext cx="2413000" cy="2413000"/>
          </a:xfrm>
          <a:prstGeom prst="ellipse">
            <a:avLst/>
          </a:prstGeom>
          <a:solidFill>
            <a:srgbClr val="5A2A36"/>
          </a:solidFill>
          <a:ln w="381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0" y="3238500"/>
            <a:ext cx="241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E5484D"/>
                </a:solidFill>
                <a:latin typeface="Segoe UI"/>
              </a:rPr>
              <a:t>restricted</a:t>
            </a:r>
          </a:p>
        </p:txBody>
      </p:sp>
      <p:sp>
        <p:nvSpPr>
          <p:cNvPr id="4" name="Freeform 3"/>
          <p:cNvSpPr/>
          <p:nvPr/>
        </p:nvSpPr>
        <p:spPr>
          <a:xfrm>
            <a:off x="7747000" y="1016000"/>
            <a:ext cx="4064000" cy="4699000"/>
          </a:xfrm>
          <a:custGeom>
            <a:avLst/>
            <a:gdLst/>
            <a:ahLst/>
            <a:cxnLst/>
            <a:rect l="l" t="t" r="r" b="b"/>
            <a:pathLst>
              <a:path w="4064000" h="4699000">
                <a:moveTo>
                  <a:pt x="0" y="4699000"/>
                </a:moveTo>
                <a:lnTo>
                  <a:pt x="317500" y="4064000"/>
                </a:lnTo>
                <a:lnTo>
                  <a:pt x="508000" y="3302000"/>
                </a:lnTo>
                <a:lnTo>
                  <a:pt x="571500" y="2413000"/>
                </a:lnTo>
                <a:lnTo>
                  <a:pt x="635000" y="1651000"/>
                </a:lnTo>
                <a:lnTo>
                  <a:pt x="952500" y="1016000"/>
                </a:lnTo>
                <a:lnTo>
                  <a:pt x="1524000" y="698500"/>
                </a:lnTo>
                <a:lnTo>
                  <a:pt x="2413000" y="508000"/>
                </a:lnTo>
                <a:lnTo>
                  <a:pt x="3302000" y="381000"/>
                </a:lnTo>
                <a:lnTo>
                  <a:pt x="4064000" y="0"/>
                </a:lnTo>
              </a:path>
            </a:pathLst>
          </a:custGeom>
          <a:noFill/>
          <a:ln w="76200">
            <a:solidFill>
              <a:srgbClr val="2BB673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07300" y="5575300"/>
            <a:ext cx="279400" cy="279400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71300" y="876300"/>
            <a:ext cx="279400" cy="279400"/>
          </a:xfrm>
          <a:prstGeom prst="ellipse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1905000"/>
            <a:ext cx="6985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B673"/>
                </a:solidFill>
                <a:latin typeface="Segoe UI"/>
              </a:rPr>
              <a:t>HACKATHON DATA CITY · WARSAW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413000"/>
            <a:ext cx="73025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0">
                <a:solidFill>
                  <a:srgbClr val="F5F7F4"/>
                </a:solidFill>
                <a:latin typeface="Segoe UI Semibold"/>
              </a:rPr>
              <a:t>SkyRoute Warsaw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3683000"/>
            <a:ext cx="6350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B8C4D6"/>
                </a:solidFill>
                <a:latin typeface="Segoe UI"/>
              </a:rPr>
              <a:t>Google Maps for drones: safe delivery routes across the whole city, around every restricted area.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461000"/>
            <a:ext cx="6350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4D6"/>
                </a:solidFill>
                <a:latin typeface="Segoe UI"/>
              </a:rPr>
              <a:t>[Team name] · [Presenter names]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8890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7A9E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70000"/>
            <a:ext cx="9525000" cy="139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>
                <a:solidFill>
                  <a:srgbClr val="0F1B2D"/>
                </a:solidFill>
                <a:latin typeface="Segoe UI Semibold"/>
              </a:rPr>
              <a:t>A drone can’t just fly in a straight line across Warsaw.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3302000"/>
            <a:ext cx="339725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3302000"/>
            <a:ext cx="3397250" cy="635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800" y="3556000"/>
            <a:ext cx="2889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1B2D"/>
                </a:solidFill>
                <a:latin typeface="Segoe UI Semibold"/>
              </a:rPr>
              <a:t>No-go areas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962400"/>
            <a:ext cx="2889250" cy="162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A5568"/>
                </a:solidFill>
                <a:latin typeface="Segoe UI"/>
              </a:rPr>
              <a:t>Chopin and Babice airports, military sites and government buildings sit right on the direct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0550" y="3302000"/>
            <a:ext cx="339725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0550" y="3302000"/>
            <a:ext cx="3397250" cy="635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550" y="3556000"/>
            <a:ext cx="2889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1B2D"/>
                </a:solidFill>
                <a:latin typeface="Segoe UI Semibold"/>
              </a:rPr>
              <a:t>A vertical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550" y="3962400"/>
            <a:ext cx="2889250" cy="162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A5568"/>
                </a:solidFill>
                <a:latin typeface="Segoe UI"/>
              </a:rPr>
              <a:t>Towers like Varso (310 m) and dense blocks decide what is flyable at each altitude.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8300" y="3302000"/>
            <a:ext cx="339725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88300" y="3302000"/>
            <a:ext cx="3397250" cy="63500"/>
          </a:xfrm>
          <a:prstGeom prst="rect">
            <a:avLst/>
          </a:prstGeom>
          <a:solidFill>
            <a:srgbClr val="2B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2300" y="3556000"/>
            <a:ext cx="2889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1B2D"/>
                </a:solidFill>
                <a:latin typeface="Segoe UI Semibold"/>
              </a:rPr>
              <a:t>No open zone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2300" y="3962400"/>
            <a:ext cx="2889250" cy="162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A5568"/>
                </a:solidFill>
                <a:latin typeface="Segoe UI"/>
              </a:rPr>
              <a:t>PAŻP publishes drone zones only as a viewer map, with no machine-readable file for planners.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8890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7A9E"/>
                </a:solidFill>
                <a:latin typeface="Segoe UI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70000"/>
            <a:ext cx="10541000" cy="139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>
                <a:solidFill>
                  <a:srgbClr val="0F1B2D"/>
                </a:solidFill>
                <a:latin typeface="Segoe UI Semibold"/>
              </a:rPr>
              <a:t>Plan, simulate and dispatch in one map.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667000"/>
            <a:ext cx="3397250" cy="298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2667000"/>
            <a:ext cx="3397250" cy="63500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800" y="2921000"/>
            <a:ext cx="2889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B2D"/>
                </a:solidFill>
                <a:latin typeface="Segoe UI Semibold"/>
              </a:rPr>
              <a:t>1 ·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368040"/>
            <a:ext cx="2889250" cy="2029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A5568"/>
                </a:solidFill>
                <a:latin typeface="Segoe UI"/>
              </a:rPr>
              <a:t>Type two addresses. We match the exact building and compute a route that avoids every red area, with live wind.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0550" y="2667000"/>
            <a:ext cx="3397250" cy="298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0550" y="2667000"/>
            <a:ext cx="3397250" cy="63500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550" y="2921000"/>
            <a:ext cx="2889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B2D"/>
                </a:solidFill>
                <a:latin typeface="Segoe UI Semibold"/>
              </a:rPr>
              <a:t>2 · Simulate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550" y="3368040"/>
            <a:ext cx="2889250" cy="2029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A5568"/>
                </a:solidFill>
                <a:latin typeface="Segoe UI"/>
              </a:rPr>
              <a:t>Watch a virtual drone fly the route and come back on its own validated return route.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8300" y="2667000"/>
            <a:ext cx="3397250" cy="298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88300" y="2667000"/>
            <a:ext cx="3397250" cy="63500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2300" y="2921000"/>
            <a:ext cx="2889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B2D"/>
                </a:solidFill>
                <a:latin typeface="Segoe UI Semibold"/>
              </a:rPr>
              <a:t>3 · Dispatch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2300" y="3368040"/>
            <a:ext cx="2889250" cy="2029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A5568"/>
                </a:solidFill>
                <a:latin typeface="Segoe UI"/>
              </a:rPr>
              <a:t>Order blood, an AED or food. We pick the nearest hospital and the fastest drone that can make the trip.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8890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B673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70000"/>
            <a:ext cx="10541000" cy="139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>
                <a:solidFill>
                  <a:srgbClr val="F5F7F4"/>
                </a:solidFill>
                <a:latin typeface="Segoe UI Semibold"/>
              </a:rPr>
              <a:t>One pipeline for every route.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794000"/>
            <a:ext cx="1879600" cy="2095500"/>
          </a:xfrm>
          <a:prstGeom prst="roundRect">
            <a:avLst>
              <a:gd name="adj" fmla="val 6000"/>
            </a:avLst>
          </a:prstGeom>
          <a:solidFill>
            <a:srgbClr val="1B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3048000"/>
            <a:ext cx="1371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BB673"/>
                </a:solidFill>
                <a:latin typeface="Segoe UI Semibold"/>
              </a:rPr>
              <a:t>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393440"/>
            <a:ext cx="1371600" cy="1242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8C4D6"/>
                </a:solidFill>
                <a:latin typeface="Segoe UI"/>
              </a:rPr>
              <a:t>Official GUGiK building points, then OpenStreetMap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30500" y="3746500"/>
            <a:ext cx="215900" cy="190500"/>
          </a:xfrm>
          <a:prstGeom prst="rightArrow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84500" y="2794000"/>
            <a:ext cx="1879600" cy="2095500"/>
          </a:xfrm>
          <a:prstGeom prst="roundRect">
            <a:avLst>
              <a:gd name="adj" fmla="val 6000"/>
            </a:avLst>
          </a:prstGeom>
          <a:solidFill>
            <a:srgbClr val="1B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8500" y="3048000"/>
            <a:ext cx="1371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5484D"/>
                </a:solidFill>
                <a:latin typeface="Segoe UI Semibold"/>
              </a:rPr>
              <a:t>Red areas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0" y="3393440"/>
            <a:ext cx="1371600" cy="1242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8C4D6"/>
                </a:solidFill>
                <a:latin typeface="Segoe UI"/>
              </a:rPr>
              <a:t>Airspace zones, airports, military, government, tall buildings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02200" y="3746500"/>
            <a:ext cx="215900" cy="190500"/>
          </a:xfrm>
          <a:prstGeom prst="rightArrow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56200" y="2794000"/>
            <a:ext cx="1879600" cy="2095500"/>
          </a:xfrm>
          <a:prstGeom prst="roundRect">
            <a:avLst>
              <a:gd name="adj" fmla="val 6000"/>
            </a:avLst>
          </a:prstGeom>
          <a:solidFill>
            <a:srgbClr val="1B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0200" y="3048000"/>
            <a:ext cx="1371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BB673"/>
                </a:solidFill>
                <a:latin typeface="Segoe UI Semibold"/>
              </a:rPr>
              <a:t>A*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0200" y="3393440"/>
            <a:ext cx="1371600" cy="1242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8C4D6"/>
                </a:solidFill>
                <a:latin typeface="Segoe UI"/>
              </a:rPr>
              <a:t>Citywide 25 m grid, no corner cutting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73900" y="3746500"/>
            <a:ext cx="215900" cy="190500"/>
          </a:xfrm>
          <a:prstGeom prst="rightArrow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27900" y="2794000"/>
            <a:ext cx="1879600" cy="2095500"/>
          </a:xfrm>
          <a:prstGeom prst="roundRect">
            <a:avLst>
              <a:gd name="adj" fmla="val 6000"/>
            </a:avLst>
          </a:prstGeom>
          <a:solidFill>
            <a:srgbClr val="1B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1900" y="3048000"/>
            <a:ext cx="1371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BB673"/>
                </a:solidFill>
                <a:latin typeface="Segoe UI Semibold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1900" y="3393440"/>
            <a:ext cx="1371600" cy="1242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8C4D6"/>
                </a:solidFill>
                <a:latin typeface="Segoe UI"/>
              </a:rPr>
              <a:t>Final line checked against the exact polygons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45600" y="3746500"/>
            <a:ext cx="215900" cy="190500"/>
          </a:xfrm>
          <a:prstGeom prst="rightArrow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99600" y="2794000"/>
            <a:ext cx="1879600" cy="2095500"/>
          </a:xfrm>
          <a:prstGeom prst="roundRect">
            <a:avLst>
              <a:gd name="adj" fmla="val 6000"/>
            </a:avLst>
          </a:prstGeom>
          <a:solidFill>
            <a:srgbClr val="1B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3600" y="3048000"/>
            <a:ext cx="1371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BB673"/>
                </a:solidFill>
                <a:latin typeface="Segoe UI Semibold"/>
              </a:rPr>
              <a:t>Route + 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3600" y="3393440"/>
            <a:ext cx="1371600" cy="1242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8C4D6"/>
                </a:solidFill>
                <a:latin typeface="Segoe UI"/>
              </a:rPr>
              <a:t>Live Open-Meteo wind along the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" y="5334000"/>
            <a:ext cx="1054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8C4D6"/>
                </a:solidFill>
                <a:latin typeface="Segoe UI"/>
              </a:rPr>
              <a:t>The map and the router read the same zone data: what you see in red is exactly what the drone avoids.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8890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7A9E"/>
                </a:solidFill>
                <a:latin typeface="Segoe UI"/>
              </a:rPr>
              <a:t>BUILT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70000"/>
            <a:ext cx="10541000" cy="139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>
                <a:solidFill>
                  <a:srgbClr val="0F1B2D"/>
                </a:solidFill>
                <a:latin typeface="Segoe UI Semibold"/>
              </a:rPr>
              <a:t>Open-source stack, open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540000"/>
            <a:ext cx="3175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2540000"/>
            <a:ext cx="3175000" cy="63500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1400" y="2794000"/>
            <a:ext cx="2717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F1B2D"/>
                </a:solidFill>
                <a:latin typeface="Segoe UI Semibold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400" y="3270250"/>
            <a:ext cx="271780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Segoe UI"/>
              </a:rPr>
              <a:t>•  Angular 22 (Signals)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Segoe UI"/>
              </a:rPr>
              <a:t>•  Angular Material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Segoe UI"/>
              </a:rPr>
              <a:t>•  Leaflet map + OpenStreetMap tiles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Segoe UI"/>
              </a:rPr>
              <a:t>•  TypeScript · Vitest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5600" y="2540000"/>
            <a:ext cx="3175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5600" y="2540000"/>
            <a:ext cx="3175000" cy="63500"/>
          </a:xfrm>
          <a:prstGeom prst="rect">
            <a:avLst/>
          </a:prstGeom>
          <a:solidFill>
            <a:srgbClr val="2B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4200" y="2794000"/>
            <a:ext cx="2717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F1B2D"/>
                </a:solidFill>
                <a:latin typeface="Segoe UI Semibold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4200" y="3270250"/>
            <a:ext cx="271780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Segoe UI"/>
              </a:rPr>
              <a:t>•  Python 3.12 · FastAPI · Pydantic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Segoe UI"/>
              </a:rPr>
              <a:t>•  Shapely · PyProj · NumPy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Segoe UI"/>
              </a:rPr>
              <a:t>•  Own A* on a 25 m grid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Segoe UI"/>
              </a:rPr>
              <a:t>•  SQLite fleet state · Pytest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18400" y="2540000"/>
            <a:ext cx="38608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18400" y="2540000"/>
            <a:ext cx="3860800" cy="635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7000" y="2794000"/>
            <a:ext cx="3403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F1B2D"/>
                </a:solidFill>
                <a:latin typeface="Segoe UI Semibold"/>
              </a:rPr>
              <a:t>Data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7000" y="3270250"/>
            <a:ext cx="340360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Segoe UI"/>
              </a:rPr>
              <a:t>•  GUGiK PRG: city + 18 districts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Segoe UI"/>
              </a:rPr>
              <a:t>•  GUGiK UUG: official address points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Segoe UI"/>
              </a:rPr>
              <a:t>•  OpenStreetMap: buildings, parks, river, hospitals, airports, military, government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Segoe UI"/>
              </a:rPr>
              <a:t>•  Nominatim search · Open-Meteo wind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8890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7A9E"/>
                </a:solidFill>
                <a:latin typeface="Segoe UI"/>
              </a:rPr>
              <a:t>BUILT FOR THE WHOLE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70000"/>
            <a:ext cx="10541000" cy="139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>
                <a:solidFill>
                  <a:srgbClr val="0F1B2D"/>
                </a:solidFill>
                <a:latin typeface="Segoe UI Semibold"/>
              </a:rPr>
              <a:t>All of Warsaw, not a demo box.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921000"/>
            <a:ext cx="26035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2B7A9E"/>
                </a:solidFill>
                <a:latin typeface="Segoe UI Semibold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937000"/>
            <a:ext cx="2413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A5568"/>
                </a:solidFill>
                <a:latin typeface="Segoe UI"/>
              </a:rPr>
              <a:t>districts, on the official GUGiK city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9800" y="2921000"/>
            <a:ext cx="26035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2B7A9E"/>
                </a:solidFill>
                <a:latin typeface="Segoe UI Semibold"/>
              </a:rPr>
              <a:t>189k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9800" y="3937000"/>
            <a:ext cx="2413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A5568"/>
                </a:solidFill>
                <a:latin typeface="Segoe UI"/>
              </a:rPr>
              <a:t>building footprints with heights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6800" y="2921000"/>
            <a:ext cx="26035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E5484D"/>
                </a:solidFill>
                <a:latin typeface="Segoe UI Semibold"/>
              </a:rPr>
              <a:t>565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6800" y="3937000"/>
            <a:ext cx="2413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A5568"/>
                </a:solidFill>
                <a:latin typeface="Segoe UI"/>
              </a:rPr>
              <a:t>red areas avoided: 2 airports, 86 military, 477 government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13800" y="2921000"/>
            <a:ext cx="26035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2BB673"/>
                </a:solidFill>
                <a:latin typeface="Segoe UI Semibold"/>
              </a:rPr>
              <a:t>&lt;250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3800" y="3937000"/>
            <a:ext cx="2413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A5568"/>
                </a:solidFill>
                <a:latin typeface="Segoe UI"/>
              </a:rPr>
              <a:t>typical route calculation, even across the city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B6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8890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B2D"/>
                </a:solidFill>
                <a:latin typeface="Segoe UI"/>
              </a:rPr>
              <a:t>LIVE DEMO · 90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70000"/>
            <a:ext cx="10541000" cy="139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>
                <a:solidFill>
                  <a:srgbClr val="0F1B2D"/>
                </a:solidFill>
                <a:latin typeface="Segoe UI Semibold"/>
              </a:rPr>
              <a:t>Let’s fly.</a:t>
            </a:r>
          </a:p>
        </p:txBody>
      </p:sp>
      <p:sp>
        <p:nvSpPr>
          <p:cNvPr id="4" name="Oval 3"/>
          <p:cNvSpPr/>
          <p:nvPr/>
        </p:nvSpPr>
        <p:spPr>
          <a:xfrm>
            <a:off x="812800" y="2667000"/>
            <a:ext cx="571500" cy="57150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667000"/>
            <a:ext cx="571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5F7F4"/>
                </a:solidFill>
                <a:latin typeface="Segoe UI Semi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2667000"/>
            <a:ext cx="9715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F1B2D"/>
                </a:solidFill>
                <a:latin typeface="Segoe UI"/>
              </a:rPr>
              <a:t>A route across Chopin Airport: the drone goes around the red airport grounds.</a:t>
            </a:r>
          </a:p>
        </p:txBody>
      </p:sp>
      <p:sp>
        <p:nvSpPr>
          <p:cNvPr id="7" name="Oval 6"/>
          <p:cNvSpPr/>
          <p:nvPr/>
        </p:nvSpPr>
        <p:spPr>
          <a:xfrm>
            <a:off x="812800" y="3619500"/>
            <a:ext cx="571500" cy="57150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3619500"/>
            <a:ext cx="571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5F7F4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3619500"/>
            <a:ext cx="9715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F1B2D"/>
                </a:solidFill>
                <a:latin typeface="Segoe UI"/>
              </a:rPr>
              <a:t>Start Simulation at 10×: out to Point B, “Destination Reached”, back on its own route.</a:t>
            </a:r>
          </a:p>
        </p:txBody>
      </p:sp>
      <p:sp>
        <p:nvSpPr>
          <p:cNvPr id="10" name="Oval 9"/>
          <p:cNvSpPr/>
          <p:nvPr/>
        </p:nvSpPr>
        <p:spPr>
          <a:xfrm>
            <a:off x="812800" y="4572000"/>
            <a:ext cx="571500" cy="57150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" y="4572000"/>
            <a:ext cx="571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5F7F4"/>
                </a:solidFill>
                <a:latin typeface="Segoe UI Semibol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1000" y="4572000"/>
            <a:ext cx="9715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F1B2D"/>
                </a:solidFill>
                <a:latin typeface="Segoe UI"/>
              </a:rPr>
              <a:t>Blood delivery to Korotyńskiego 19: nearest hospital found, drone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8890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7A9E"/>
                </a:solidFill>
                <a:latin typeface="Segoe UI"/>
              </a:rPr>
              <a:t>SAFETY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70000"/>
            <a:ext cx="10541000" cy="139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>
                <a:solidFill>
                  <a:srgbClr val="0F1B2D"/>
                </a:solidFill>
                <a:latin typeface="Segoe UI Semibold"/>
              </a:rPr>
              <a:t>Honest about what it knows.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667000"/>
            <a:ext cx="51816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2857500"/>
            <a:ext cx="63500" cy="1016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0300" y="2882900"/>
            <a:ext cx="46101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F1B2D"/>
                </a:solidFill>
                <a:latin typeface="Segoe UI"/>
              </a:rPr>
              <a:t>No shortcuts.</a:t>
            </a:r>
            <a:r>
              <a:rPr sz="1600" b="0">
                <a:solidFill>
                  <a:srgbClr val="4A5568"/>
                </a:solidFill>
                <a:latin typeface="Segoe UI"/>
              </a:rPr>
              <a:t> Emergency mode gets no special access; if no safe route exists we say so instead of guessing.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7600" y="2667000"/>
            <a:ext cx="51816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7600" y="2857500"/>
            <a:ext cx="63500" cy="1016000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5100" y="2882900"/>
            <a:ext cx="46101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F1B2D"/>
                </a:solidFill>
                <a:latin typeface="Segoe UI"/>
              </a:rPr>
              <a:t>Tested.</a:t>
            </a:r>
            <a:r>
              <a:rPr sz="1600" b="0">
                <a:solidFill>
                  <a:srgbClr val="4A5568"/>
                </a:solidFill>
                <a:latin typeface="Segoe UI"/>
              </a:rPr>
              <a:t> 342 backend and 180 frontend automated tests, plus live end-to-end runs.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4254500"/>
            <a:ext cx="51816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2800" y="4445000"/>
            <a:ext cx="63500" cy="1016000"/>
          </a:xfrm>
          <a:prstGeom prst="rect">
            <a:avLst/>
          </a:prstGeom>
          <a:solidFill>
            <a:srgbClr val="2B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0300" y="4470400"/>
            <a:ext cx="46101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F1B2D"/>
                </a:solidFill>
                <a:latin typeface="Segoe UI"/>
              </a:rPr>
              <a:t>Official data ready.</a:t>
            </a:r>
            <a:r>
              <a:rPr sz="1600" b="0">
                <a:solidFill>
                  <a:srgbClr val="4A5568"/>
                </a:solidFill>
                <a:latin typeface="Segoe UI"/>
              </a:rPr>
              <a:t> Drop in a permitted PAŻP export (ED-269) and real zones turn red with no code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7600" y="4254500"/>
            <a:ext cx="51816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7600" y="4445000"/>
            <a:ext cx="63500" cy="1016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100" y="4470400"/>
            <a:ext cx="46101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F1B2D"/>
                </a:solidFill>
                <a:latin typeface="Segoe UI"/>
              </a:rPr>
              <a:t>A planning tool.</a:t>
            </a:r>
            <a:r>
              <a:rPr sz="1600" b="0">
                <a:solidFill>
                  <a:srgbClr val="4A5568"/>
                </a:solidFill>
                <a:latin typeface="Segoe UI"/>
              </a:rPr>
              <a:t> It never controls a real drone and never claims a flight is legal.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8890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B673"/>
                </a:solidFill>
                <a:latin typeface="Segoe UI"/>
              </a:rPr>
              <a:t>WHAT’S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460500"/>
            <a:ext cx="3397250" cy="50800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1714500"/>
            <a:ext cx="3397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5F7F4"/>
                </a:solidFill>
                <a:latin typeface="Segoe UI Semibold"/>
              </a:rPr>
              <a:t>Official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327025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B8C4D6"/>
                </a:solidFill>
                <a:latin typeface="Segoe UI"/>
              </a:rPr>
              <a:t>A permitted PAŻP zone export, so the airport control zones are covered too.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00550" y="1460500"/>
            <a:ext cx="3397250" cy="50800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0550" y="1714500"/>
            <a:ext cx="3397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5F7F4"/>
                </a:solidFill>
                <a:latin typeface="Segoe UI Semibold"/>
              </a:rPr>
              <a:t>Hospital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0550" y="2222500"/>
            <a:ext cx="327025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B8C4D6"/>
                </a:solidFill>
                <a:latin typeface="Segoe UI"/>
              </a:rPr>
              <a:t>Plan blood and AED runs with one Warsaw hospital and its real landing spot.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88300" y="1460500"/>
            <a:ext cx="3397250" cy="50800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8300" y="1714500"/>
            <a:ext cx="3397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5F7F4"/>
                </a:solidFill>
                <a:latin typeface="Segoe UI Semibold"/>
              </a:rPr>
              <a:t>Fleet operators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8300" y="2222500"/>
            <a:ext cx="327025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B8C4D6"/>
                </a:solidFill>
                <a:latin typeface="Segoe UI"/>
              </a:rPr>
              <a:t>Connect real depots and drones to the dispatch layer we already built.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4127500"/>
            <a:ext cx="105410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F5F7F4"/>
                </a:solidFill>
                <a:latin typeface="Segoe UI Semibold"/>
              </a:rPr>
              <a:t>SkyRoute Warsaw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5016500"/>
            <a:ext cx="1054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B8C4D6"/>
                </a:solidFill>
                <a:latin typeface="Segoe UI"/>
              </a:rPr>
              <a:t>Safe drone routes for the whole city. Thank you!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5588000"/>
            <a:ext cx="10541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4D6"/>
                </a:solidFill>
                <a:latin typeface="Segoe UI"/>
              </a:rPr>
              <a:t>[Contact email] · [Repository or demo 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SkyRoute Warsaw – Pitch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