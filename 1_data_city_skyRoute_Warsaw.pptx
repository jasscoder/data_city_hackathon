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101828"/>
        </a:fontRef>
        <a:srgbClr val="10182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E1D4"/>
          </a:solidFill>
        </a:fill>
      </a:tcStyle>
    </a:wholeTbl>
    <a:band2H>
      <a:tcTxStyle/>
      <a:tcStyle>
        <a:tcBdr/>
        <a:fill>
          <a:solidFill>
            <a:srgbClr val="E7F1EB"/>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101828"/>
        </a:fontRef>
        <a:srgbClr val="10182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2D4D8"/>
          </a:solidFill>
        </a:fill>
      </a:tcStyle>
    </a:wholeTbl>
    <a:band2H>
      <a:tcTxStyle/>
      <a:tcStyle>
        <a:tcBdr/>
        <a:fill>
          <a:solidFill>
            <a:srgbClr val="EAEBE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101828"/>
        </a:fontRef>
        <a:srgbClr val="10182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EEFF2"/>
          </a:solidFill>
        </a:fill>
      </a:tcStyle>
    </a:wholeTbl>
    <a:band2H>
      <a:tcTxStyle/>
      <a:tcStyle>
        <a:tcBdr/>
        <a:fill>
          <a:solidFill>
            <a:srgbClr val="F6F7F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101828"/>
        </a:fontRef>
        <a:srgbClr val="101828"/>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7E7"/>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101828"/>
        </a:fontRef>
        <a:srgbClr val="101828"/>
      </a:tcTxStyle>
      <a:tcStyle>
        <a:tcBdr>
          <a:left>
            <a:ln w="12700" cap="flat">
              <a:noFill/>
              <a:miter lim="400000"/>
            </a:ln>
          </a:left>
          <a:right>
            <a:ln w="12700" cap="flat">
              <a:noFill/>
              <a:miter lim="400000"/>
            </a:ln>
          </a:right>
          <a:top>
            <a:ln w="50800" cap="flat">
              <a:solidFill>
                <a:srgbClr val="101828"/>
              </a:solidFill>
              <a:prstDash val="solid"/>
              <a:round/>
            </a:ln>
          </a:top>
          <a:bottom>
            <a:ln w="25400" cap="flat">
              <a:solidFill>
                <a:srgbClr val="101828"/>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101828"/>
              </a:solidFill>
              <a:prstDash val="solid"/>
              <a:round/>
            </a:ln>
          </a:top>
          <a:bottom>
            <a:ln w="25400" cap="flat">
              <a:solidFill>
                <a:srgbClr val="101828"/>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101828"/>
        </a:fontRef>
        <a:srgbClr val="10182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BCB"/>
          </a:solidFill>
        </a:fill>
      </a:tcStyle>
    </a:wholeTbl>
    <a:band2H>
      <a:tcTxStyle/>
      <a:tcStyle>
        <a:tcBdr/>
        <a:fill>
          <a:solidFill>
            <a:srgbClr val="E6E7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01828"/>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01828"/>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01828"/>
          </a:solidFill>
        </a:fill>
      </a:tcStyle>
    </a:firstRow>
  </a:tblStyle>
  <a:tblStyle styleId="{2708684C-4D16-4618-839F-0558EEFCDFE6}" styleName="">
    <a:tblBg/>
    <a:wholeTbl>
      <a:tcTxStyle b="off" i="off">
        <a:fontRef idx="major">
          <a:srgbClr val="101828"/>
        </a:fontRef>
        <a:srgbClr val="101828"/>
      </a:tcTxStyle>
      <a:tcStyle>
        <a:tcBdr>
          <a:left>
            <a:ln w="12700" cap="flat">
              <a:solidFill>
                <a:srgbClr val="101828"/>
              </a:solidFill>
              <a:prstDash val="solid"/>
              <a:round/>
            </a:ln>
          </a:left>
          <a:right>
            <a:ln w="12700" cap="flat">
              <a:solidFill>
                <a:srgbClr val="101828"/>
              </a:solidFill>
              <a:prstDash val="solid"/>
              <a:round/>
            </a:ln>
          </a:right>
          <a:top>
            <a:ln w="12700" cap="flat">
              <a:solidFill>
                <a:srgbClr val="101828"/>
              </a:solidFill>
              <a:prstDash val="solid"/>
              <a:round/>
            </a:ln>
          </a:top>
          <a:bottom>
            <a:ln w="12700" cap="flat">
              <a:solidFill>
                <a:srgbClr val="101828"/>
              </a:solidFill>
              <a:prstDash val="solid"/>
              <a:round/>
            </a:ln>
          </a:bottom>
          <a:insideH>
            <a:ln w="12700" cap="flat">
              <a:solidFill>
                <a:srgbClr val="101828"/>
              </a:solidFill>
              <a:prstDash val="solid"/>
              <a:round/>
            </a:ln>
          </a:insideH>
          <a:insideV>
            <a:ln w="12700" cap="flat">
              <a:solidFill>
                <a:srgbClr val="101828"/>
              </a:solidFill>
              <a:prstDash val="solid"/>
              <a:round/>
            </a:ln>
          </a:insideV>
        </a:tcBdr>
        <a:fill>
          <a:solidFill>
            <a:srgbClr val="101828">
              <a:alpha val="20000"/>
            </a:srgbClr>
          </a:solidFill>
        </a:fill>
      </a:tcStyle>
    </a:wholeTbl>
    <a:band2H>
      <a:tcTxStyle/>
      <a:tcStyle>
        <a:tcBdr/>
        <a:fill>
          <a:solidFill>
            <a:srgbClr val="FFFFFF"/>
          </a:solidFill>
        </a:fill>
      </a:tcStyle>
    </a:band2H>
    <a:firstCol>
      <a:tcTxStyle b="on" i="off">
        <a:fontRef idx="major">
          <a:srgbClr val="101828"/>
        </a:fontRef>
        <a:srgbClr val="101828"/>
      </a:tcTxStyle>
      <a:tcStyle>
        <a:tcBdr>
          <a:left>
            <a:ln w="12700" cap="flat">
              <a:solidFill>
                <a:srgbClr val="101828"/>
              </a:solidFill>
              <a:prstDash val="solid"/>
              <a:round/>
            </a:ln>
          </a:left>
          <a:right>
            <a:ln w="12700" cap="flat">
              <a:solidFill>
                <a:srgbClr val="101828"/>
              </a:solidFill>
              <a:prstDash val="solid"/>
              <a:round/>
            </a:ln>
          </a:right>
          <a:top>
            <a:ln w="12700" cap="flat">
              <a:solidFill>
                <a:srgbClr val="101828"/>
              </a:solidFill>
              <a:prstDash val="solid"/>
              <a:round/>
            </a:ln>
          </a:top>
          <a:bottom>
            <a:ln w="12700" cap="flat">
              <a:solidFill>
                <a:srgbClr val="101828"/>
              </a:solidFill>
              <a:prstDash val="solid"/>
              <a:round/>
            </a:ln>
          </a:bottom>
          <a:insideH>
            <a:ln w="12700" cap="flat">
              <a:solidFill>
                <a:srgbClr val="101828"/>
              </a:solidFill>
              <a:prstDash val="solid"/>
              <a:round/>
            </a:ln>
          </a:insideH>
          <a:insideV>
            <a:ln w="12700" cap="flat">
              <a:solidFill>
                <a:srgbClr val="101828"/>
              </a:solidFill>
              <a:prstDash val="solid"/>
              <a:round/>
            </a:ln>
          </a:insideV>
        </a:tcBdr>
        <a:fill>
          <a:solidFill>
            <a:srgbClr val="101828">
              <a:alpha val="20000"/>
            </a:srgbClr>
          </a:solidFill>
        </a:fill>
      </a:tcStyle>
    </a:firstCol>
    <a:lastRow>
      <a:tcTxStyle b="on" i="off">
        <a:fontRef idx="major">
          <a:srgbClr val="101828"/>
        </a:fontRef>
        <a:srgbClr val="101828"/>
      </a:tcTxStyle>
      <a:tcStyle>
        <a:tcBdr>
          <a:left>
            <a:ln w="12700" cap="flat">
              <a:solidFill>
                <a:srgbClr val="101828"/>
              </a:solidFill>
              <a:prstDash val="solid"/>
              <a:round/>
            </a:ln>
          </a:left>
          <a:right>
            <a:ln w="12700" cap="flat">
              <a:solidFill>
                <a:srgbClr val="101828"/>
              </a:solidFill>
              <a:prstDash val="solid"/>
              <a:round/>
            </a:ln>
          </a:right>
          <a:top>
            <a:ln w="50800" cap="flat">
              <a:solidFill>
                <a:srgbClr val="101828"/>
              </a:solidFill>
              <a:prstDash val="solid"/>
              <a:round/>
            </a:ln>
          </a:top>
          <a:bottom>
            <a:ln w="12700" cap="flat">
              <a:solidFill>
                <a:srgbClr val="101828"/>
              </a:solidFill>
              <a:prstDash val="solid"/>
              <a:round/>
            </a:ln>
          </a:bottom>
          <a:insideH>
            <a:ln w="12700" cap="flat">
              <a:solidFill>
                <a:srgbClr val="101828"/>
              </a:solidFill>
              <a:prstDash val="solid"/>
              <a:round/>
            </a:ln>
          </a:insideH>
          <a:insideV>
            <a:ln w="12700" cap="flat">
              <a:solidFill>
                <a:srgbClr val="101828"/>
              </a:solidFill>
              <a:prstDash val="solid"/>
              <a:round/>
            </a:ln>
          </a:insideV>
        </a:tcBdr>
        <a:fill>
          <a:noFill/>
        </a:fill>
      </a:tcStyle>
    </a:lastRow>
    <a:firstRow>
      <a:tcTxStyle b="on" i="off">
        <a:fontRef idx="major">
          <a:srgbClr val="101828"/>
        </a:fontRef>
        <a:srgbClr val="101828"/>
      </a:tcTxStyle>
      <a:tcStyle>
        <a:tcBdr>
          <a:left>
            <a:ln w="12700" cap="flat">
              <a:solidFill>
                <a:srgbClr val="101828"/>
              </a:solidFill>
              <a:prstDash val="solid"/>
              <a:round/>
            </a:ln>
          </a:left>
          <a:right>
            <a:ln w="12700" cap="flat">
              <a:solidFill>
                <a:srgbClr val="101828"/>
              </a:solidFill>
              <a:prstDash val="solid"/>
              <a:round/>
            </a:ln>
          </a:right>
          <a:top>
            <a:ln w="12700" cap="flat">
              <a:solidFill>
                <a:srgbClr val="101828"/>
              </a:solidFill>
              <a:prstDash val="solid"/>
              <a:round/>
            </a:ln>
          </a:top>
          <a:bottom>
            <a:ln w="25400" cap="flat">
              <a:solidFill>
                <a:srgbClr val="101828"/>
              </a:solidFill>
              <a:prstDash val="solid"/>
              <a:round/>
            </a:ln>
          </a:bottom>
          <a:insideH>
            <a:ln w="12700" cap="flat">
              <a:solidFill>
                <a:srgbClr val="101828"/>
              </a:solidFill>
              <a:prstDash val="solid"/>
              <a:round/>
            </a:ln>
          </a:insideH>
          <a:insideV>
            <a:ln w="12700" cap="flat">
              <a:solidFill>
                <a:srgbClr val="101828"/>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7" name="Shape 47"/>
          <p:cNvSpPr>
            <a:spLocks noGrp="1" noRot="1" noChangeAspect="1"/>
          </p:cNvSpPr>
          <p:nvPr>
            <p:ph type="sldImg"/>
          </p:nvPr>
        </p:nvSpPr>
        <p:spPr>
          <a:xfrm>
            <a:off x="1143000" y="685800"/>
            <a:ext cx="4572000" cy="3429000"/>
          </a:xfrm>
          <a:prstGeom prst="rect">
            <a:avLst/>
          </a:prstGeom>
        </p:spPr>
        <p:txBody>
          <a:bodyPr/>
          <a:lstStyle/>
          <a:p>
            <a:endParaRPr/>
          </a:p>
        </p:txBody>
      </p:sp>
      <p:sp>
        <p:nvSpPr>
          <p:cNvPr id="48" name="Shape 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solidFill>
          <a:srgbClr val="101828"/>
        </a:solidFill>
        <a:latin typeface="+mj-lt"/>
        <a:ea typeface="+mj-ea"/>
        <a:cs typeface="+mj-cs"/>
        <a:sym typeface="Calibri"/>
      </a:defRPr>
    </a:lvl1pPr>
    <a:lvl2pPr indent="228600" latinLnBrk="0">
      <a:defRPr sz="1200">
        <a:solidFill>
          <a:srgbClr val="101828"/>
        </a:solidFill>
        <a:latin typeface="+mj-lt"/>
        <a:ea typeface="+mj-ea"/>
        <a:cs typeface="+mj-cs"/>
        <a:sym typeface="Calibri"/>
      </a:defRPr>
    </a:lvl2pPr>
    <a:lvl3pPr indent="457200" latinLnBrk="0">
      <a:defRPr sz="1200">
        <a:solidFill>
          <a:srgbClr val="101828"/>
        </a:solidFill>
        <a:latin typeface="+mj-lt"/>
        <a:ea typeface="+mj-ea"/>
        <a:cs typeface="+mj-cs"/>
        <a:sym typeface="Calibri"/>
      </a:defRPr>
    </a:lvl3pPr>
    <a:lvl4pPr indent="685800" latinLnBrk="0">
      <a:defRPr sz="1200">
        <a:solidFill>
          <a:srgbClr val="101828"/>
        </a:solidFill>
        <a:latin typeface="+mj-lt"/>
        <a:ea typeface="+mj-ea"/>
        <a:cs typeface="+mj-cs"/>
        <a:sym typeface="Calibri"/>
      </a:defRPr>
    </a:lvl4pPr>
    <a:lvl5pPr indent="914400" latinLnBrk="0">
      <a:defRPr sz="1200">
        <a:solidFill>
          <a:srgbClr val="101828"/>
        </a:solidFill>
        <a:latin typeface="+mj-lt"/>
        <a:ea typeface="+mj-ea"/>
        <a:cs typeface="+mj-cs"/>
        <a:sym typeface="Calibri"/>
      </a:defRPr>
    </a:lvl5pPr>
    <a:lvl6pPr indent="1143000" latinLnBrk="0">
      <a:defRPr sz="1200">
        <a:solidFill>
          <a:srgbClr val="101828"/>
        </a:solidFill>
        <a:latin typeface="+mj-lt"/>
        <a:ea typeface="+mj-ea"/>
        <a:cs typeface="+mj-cs"/>
        <a:sym typeface="Calibri"/>
      </a:defRPr>
    </a:lvl6pPr>
    <a:lvl7pPr indent="1371600" latinLnBrk="0">
      <a:defRPr sz="1200">
        <a:solidFill>
          <a:srgbClr val="101828"/>
        </a:solidFill>
        <a:latin typeface="+mj-lt"/>
        <a:ea typeface="+mj-ea"/>
        <a:cs typeface="+mj-cs"/>
        <a:sym typeface="Calibri"/>
      </a:defRPr>
    </a:lvl7pPr>
    <a:lvl8pPr indent="1600200" latinLnBrk="0">
      <a:defRPr sz="1200">
        <a:solidFill>
          <a:srgbClr val="101828"/>
        </a:solidFill>
        <a:latin typeface="+mj-lt"/>
        <a:ea typeface="+mj-ea"/>
        <a:cs typeface="+mj-cs"/>
        <a:sym typeface="Calibri"/>
      </a:defRPr>
    </a:lvl8pPr>
    <a:lvl9pPr indent="1828800" latinLnBrk="0">
      <a:defRPr sz="1200">
        <a:solidFill>
          <a:srgbClr val="101828"/>
        </a:solidFill>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hape 58"/>
          <p:cNvSpPr>
            <a:spLocks noGrp="1" noRot="1" noChangeAspect="1"/>
          </p:cNvSpPr>
          <p:nvPr>
            <p:ph type="sldImg"/>
          </p:nvPr>
        </p:nvSpPr>
        <p:spPr>
          <a:prstGeom prst="rect">
            <a:avLst/>
          </a:prstGeom>
        </p:spPr>
        <p:txBody>
          <a:bodyPr/>
          <a:lstStyle/>
          <a:p>
            <a:endParaRPr/>
          </a:p>
        </p:txBody>
      </p:sp>
      <p:sp>
        <p:nvSpPr>
          <p:cNvPr id="59" name="Shape 59"/>
          <p:cNvSpPr>
            <a:spLocks noGrp="1"/>
          </p:cNvSpPr>
          <p:nvPr>
            <p:ph type="body" sz="quarter" idx="1"/>
          </p:nvPr>
        </p:nvSpPr>
        <p:spPr>
          <a:prstGeom prst="rect">
            <a:avLst/>
          </a:prstGeom>
        </p:spPr>
        <p:txBody>
          <a:bodyPr/>
          <a:lstStyle/>
          <a:p>
            <a:r>
              <a:t>Hi, we are Team Data_City. In one sentence: SkyRoute is Google Maps for drones. You type two Warsaw addresses, and we compute a drone route that flies around airports, military sites, government buildings and tall buildings, then we simulate the flight and dispatch a drone from a fleet. (About 20 seconds.)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a:spLocks noGrp="1" noRot="1" noChangeAspect="1"/>
          </p:cNvSpPr>
          <p:nvPr>
            <p:ph type="sldImg"/>
          </p:nvPr>
        </p:nvSpPr>
        <p:spPr>
          <a:prstGeom prst="rect">
            <a:avLst/>
          </a:prstGeom>
        </p:spPr>
        <p:txBody>
          <a:bodyPr/>
          <a:lstStyle/>
          <a:p>
            <a:endParaRPr/>
          </a:p>
        </p:txBody>
      </p:sp>
      <p:sp>
        <p:nvSpPr>
          <p:cNvPr id="73" name="Shape 73"/>
          <p:cNvSpPr>
            <a:spLocks noGrp="1"/>
          </p:cNvSpPr>
          <p:nvPr>
            <p:ph type="body" sz="quarter" idx="1"/>
          </p:nvPr>
        </p:nvSpPr>
        <p:spPr>
          <a:prstGeom prst="rect">
            <a:avLst/>
          </a:prstGeom>
        </p:spPr>
        <p:txBody>
          <a:bodyPr/>
          <a:lstStyle/>
          <a:p>
            <a:r>
              <a:t>Urgent and small deliveries get stuck in city traffic. Drones can fly over the congestion, but only if the route is chosen for safety as well as speed. Our goal: faster deliveries, including emergencies, without adding risk for the people below. (About 20 seconds.)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prstGeom prst="rect">
            <a:avLst/>
          </a:prstGeom>
        </p:spPr>
        <p:txBody>
          <a:bodyPr/>
          <a:lstStyle/>
          <a:p>
            <a:endParaRPr/>
          </a:p>
        </p:txBody>
      </p:sp>
      <p:sp>
        <p:nvSpPr>
          <p:cNvPr id="92" name="Shape 92"/>
          <p:cNvSpPr>
            <a:spLocks noGrp="1"/>
          </p:cNvSpPr>
          <p:nvPr>
            <p:ph type="body" sz="quarter" idx="1"/>
          </p:nvPr>
        </p:nvSpPr>
        <p:spPr>
          <a:prstGeom prst="rect">
            <a:avLst/>
          </a:prstGeom>
        </p:spPr>
        <p:txBody>
          <a:bodyPr/>
          <a:lstStyle/>
          <a:p>
            <a:r>
              <a:t>SkyRoute does three things in one map. Plan: you type two addresses, we match the exact building from the official address register and compute a route that avoids every red area, using live wind. Simulate: a virtual drone flies the route and returns on a separately calculated, validated route. Dispatch: for a blood, AED or food order we pick the nearest hospital as pickup and the drone that can do the round trip fastest. (About 35 seconds.)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Shape 118"/>
          <p:cNvSpPr>
            <a:spLocks noGrp="1" noRot="1" noChangeAspect="1"/>
          </p:cNvSpPr>
          <p:nvPr>
            <p:ph type="sldImg"/>
          </p:nvPr>
        </p:nvSpPr>
        <p:spPr>
          <a:xfrm>
            <a:off x="381000" y="685800"/>
            <a:ext cx="6096000" cy="3429000"/>
          </a:xfrm>
          <a:prstGeom prst="rect">
            <a:avLst/>
          </a:prstGeom>
        </p:spPr>
        <p:txBody>
          <a:bodyPr/>
          <a:lstStyle/>
          <a:p>
            <a:endParaRPr/>
          </a:p>
        </p:txBody>
      </p:sp>
      <p:sp>
        <p:nvSpPr>
          <p:cNvPr id="119" name="Shape 119"/>
          <p:cNvSpPr>
            <a:spLocks noGrp="1"/>
          </p:cNvSpPr>
          <p:nvPr>
            <p:ph type="body" sz="quarter" idx="1"/>
          </p:nvPr>
        </p:nvSpPr>
        <p:spPr>
          <a:prstGeom prst="rect">
            <a:avLst/>
          </a:prstGeom>
        </p:spPr>
        <p:txBody>
          <a:bodyPr/>
          <a:lstStyle/>
          <a:p>
            <a:r>
              <a:t>Under the hood every route goes through one pipeline. We geocode with the official GUGiK address register. We load the red areas: airspace zones, plus 565 OpenStreetMap footprints of airports, military sites and government buildings, plus building heights. A* searches a 25-metre grid covering all of Warsaw, never cutting corners. The final line is checked again against the exact polygons, and the ETA uses live wind from Open-Meteo. Key point: the map and the router use the same data, so red on the map means avoided in the air. (About 40 seconds.)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Shape 136"/>
          <p:cNvSpPr>
            <a:spLocks noGrp="1" noRot="1" noChangeAspect="1"/>
          </p:cNvSpPr>
          <p:nvPr>
            <p:ph type="sldImg"/>
          </p:nvPr>
        </p:nvSpPr>
        <p:spPr>
          <a:prstGeom prst="rect">
            <a:avLst/>
          </a:prstGeom>
        </p:spPr>
        <p:txBody>
          <a:bodyPr/>
          <a:lstStyle/>
          <a:p>
            <a:endParaRPr/>
          </a:p>
        </p:txBody>
      </p:sp>
      <p:sp>
        <p:nvSpPr>
          <p:cNvPr id="137" name="Shape 137"/>
          <p:cNvSpPr>
            <a:spLocks noGrp="1"/>
          </p:cNvSpPr>
          <p:nvPr>
            <p:ph type="body" sz="quarter" idx="1"/>
          </p:nvPr>
        </p:nvSpPr>
        <p:spPr>
          <a:prstGeom prst="rect">
            <a:avLst/>
          </a:prstGeom>
        </p:spPr>
        <p:txBody>
          <a:bodyPr/>
          <a:lstStyle/>
          <a:p>
            <a:r>
              <a:t>Quickly, what it is built with. Frontend: Angular 22 with Angular Material and a Leaflet map on OpenStreetMap tiles. Backend: Python and FastAPI, with Shapely, PyProj and NumPy for geometry, our own A* search on a 25-metre grid, and SQLite for the simulated fleet. All data is open: the official GUGiK boundary and address register, OpenStreetMap for buildings and the red areas, Nominatim for place search and Open-Meteo for live wind. (About 20 seconds.)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hape 157"/>
          <p:cNvSpPr>
            <a:spLocks noGrp="1" noRot="1" noChangeAspect="1"/>
          </p:cNvSpPr>
          <p:nvPr>
            <p:ph type="sldImg"/>
          </p:nvPr>
        </p:nvSpPr>
        <p:spPr>
          <a:prstGeom prst="rect">
            <a:avLst/>
          </a:prstGeom>
        </p:spPr>
        <p:txBody>
          <a:bodyPr/>
          <a:lstStyle/>
          <a:p>
            <a:endParaRPr/>
          </a:p>
        </p:txBody>
      </p:sp>
      <p:sp>
        <p:nvSpPr>
          <p:cNvPr id="158" name="Shape 158"/>
          <p:cNvSpPr>
            <a:spLocks noGrp="1"/>
          </p:cNvSpPr>
          <p:nvPr>
            <p:ph type="body" sz="quarter" idx="1"/>
          </p:nvPr>
        </p:nvSpPr>
        <p:spPr>
          <a:prstGeom prst="rect">
            <a:avLst/>
          </a:prstGeom>
        </p:spPr>
        <p:txBody>
          <a:bodyPr/>
          <a:lstStyle/>
          <a:p>
            <a:r>
              <a:t>Where does the routing go next? Four technical improvements. Further constraints, so that an even safer path is found. Collision handling, for several drones in the air at once. Drone stations, so landing and charging are part of the plan. And integration with multiple solutions, opening the planner to other systems. (About 20 seconds.)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Shape 162"/>
          <p:cNvSpPr>
            <a:spLocks noGrp="1" noRot="1" noChangeAspect="1"/>
          </p:cNvSpPr>
          <p:nvPr>
            <p:ph type="sldImg"/>
          </p:nvPr>
        </p:nvSpPr>
        <p:spPr>
          <a:prstGeom prst="rect">
            <a:avLst/>
          </a:prstGeom>
        </p:spPr>
        <p:txBody>
          <a:bodyPr/>
          <a:lstStyle/>
          <a:p>
            <a:endParaRPr/>
          </a:p>
        </p:txBody>
      </p:sp>
      <p:sp>
        <p:nvSpPr>
          <p:cNvPr id="163" name="Shape 163"/>
          <p:cNvSpPr>
            <a:spLocks noGrp="1"/>
          </p:cNvSpPr>
          <p:nvPr>
            <p:ph type="body" sz="quarter" idx="1"/>
          </p:nvPr>
        </p:nvSpPr>
        <p:spPr>
          <a:prstGeom prst="rect">
            <a:avLst/>
          </a:prstGeom>
        </p:spPr>
        <p:txBody>
          <a:bodyPr/>
          <a:lstStyle/>
          <a:p>
            <a:r>
              <a:t>Now the live demo. Step 1: pick a start west of Chopin Airport and a destination east of it. Point out that the straight line crosses the airport and the route goes around the red grounds; in our test that was a 6.6 km detour that touched none of the 565 red areas. Step 2: press Start Simulation, switch to 10x. The drone flies to B, shows Destination Reached, then flies a separately calculated return route back to A. Step 3: open the Fleet dashboard, choose Blood delivery, enter Korotyńskiego 19 as the delivery address. The nearest hospital, the University Clinical Centre at Banacha 1.4 km away, becomes the pickup, and a drone is reserved within seconds. Backup if the network fails: the app falls back to sample wind and map clicks still work offline. (About 90 seconds.)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p:bg>
      <p:bgPr>
        <a:solidFill>
          <a:srgbClr val="0B1B2B"/>
        </a:solidFill>
        <a:effectLst/>
      </p:bgPr>
    </p:bg>
    <p:spTree>
      <p:nvGrpSpPr>
        <p:cNvPr id="1" name=""/>
        <p:cNvGrpSpPr/>
        <p:nvPr/>
      </p:nvGrpSpPr>
      <p:grpSpPr>
        <a:xfrm>
          <a:off x="0" y="0"/>
          <a:ext cx="0" cy="0"/>
          <a:chOff x="0" y="0"/>
          <a:chExt cx="0" cy="0"/>
        </a:xfrm>
      </p:grpSpPr>
      <p:sp>
        <p:nvSpPr>
          <p:cNvPr id="18" name="Body Level One…"/>
          <p:cNvSpPr txBox="1">
            <a:spLocks noGrp="1"/>
          </p:cNvSpPr>
          <p:nvPr>
            <p:ph type="body" sz="quarter" idx="1" hasCustomPrompt="1"/>
          </p:nvPr>
        </p:nvSpPr>
        <p:spPr>
          <a:xfrm>
            <a:off x="731519" y="1783079"/>
            <a:ext cx="5486401" cy="320041"/>
          </a:xfrm>
          <a:prstGeom prst="rect">
            <a:avLst/>
          </a:prstGeom>
        </p:spPr>
        <p:txBody>
          <a:bodyPr>
            <a:normAutofit/>
          </a:bodyPr>
          <a:lstStyle>
            <a:lvl1pPr marL="0" indent="0">
              <a:spcBef>
                <a:spcPts val="200"/>
              </a:spcBef>
              <a:buSzTx/>
              <a:buFontTx/>
              <a:buNone/>
              <a:defRPr sz="1200" b="1" spc="300">
                <a:solidFill>
                  <a:schemeClr val="accent1"/>
                </a:solidFill>
              </a:defRPr>
            </a:lvl1pPr>
            <a:lvl2pPr marL="579664" indent="-122464">
              <a:spcBef>
                <a:spcPts val="200"/>
              </a:spcBef>
              <a:buFontTx/>
              <a:defRPr sz="1200" b="1" spc="300">
                <a:solidFill>
                  <a:schemeClr val="accent1"/>
                </a:solidFill>
              </a:defRPr>
            </a:lvl2pPr>
            <a:lvl3pPr marL="1028700" indent="-114300">
              <a:spcBef>
                <a:spcPts val="200"/>
              </a:spcBef>
              <a:buFontTx/>
              <a:defRPr sz="1200" b="1" spc="300">
                <a:solidFill>
                  <a:schemeClr val="accent1"/>
                </a:solidFill>
              </a:defRPr>
            </a:lvl3pPr>
            <a:lvl4pPr marL="1508760" indent="-137160">
              <a:spcBef>
                <a:spcPts val="200"/>
              </a:spcBef>
              <a:buFontTx/>
              <a:defRPr sz="1200" b="1" spc="300">
                <a:solidFill>
                  <a:schemeClr val="accent1"/>
                </a:solidFill>
              </a:defRPr>
            </a:lvl4pPr>
            <a:lvl5pPr marL="1965960" indent="-137160">
              <a:spcBef>
                <a:spcPts val="200"/>
              </a:spcBef>
              <a:buFontTx/>
              <a:defRPr sz="1200" b="1" spc="300">
                <a:solidFill>
                  <a:schemeClr val="accent1"/>
                </a:solidFill>
              </a:defRPr>
            </a:lvl5pPr>
          </a:lstStyle>
          <a:p>
            <a:r>
              <a:t>Click to add text</a:t>
            </a:r>
          </a:p>
          <a:p>
            <a:pPr lvl="1"/>
            <a:endParaRPr/>
          </a:p>
          <a:p>
            <a:pPr lvl="2"/>
            <a:endParaRPr/>
          </a:p>
          <a:p>
            <a:pPr lvl="3"/>
            <a:endParaRPr/>
          </a:p>
          <a:p>
            <a:pPr lvl="4"/>
            <a:endParaRPr/>
          </a:p>
        </p:txBody>
      </p:sp>
      <p:sp>
        <p:nvSpPr>
          <p:cNvPr id="19" name="Click to add title"/>
          <p:cNvSpPr txBox="1">
            <a:spLocks noGrp="1"/>
          </p:cNvSpPr>
          <p:nvPr>
            <p:ph type="title" hasCustomPrompt="1"/>
          </p:nvPr>
        </p:nvSpPr>
        <p:spPr>
          <a:xfrm>
            <a:off x="731519" y="2194560"/>
            <a:ext cx="5486401" cy="1005840"/>
          </a:xfrm>
          <a:prstGeom prst="rect">
            <a:avLst/>
          </a:prstGeom>
        </p:spPr>
        <p:txBody>
          <a:bodyPr anchor="t">
            <a:normAutofit/>
          </a:bodyPr>
          <a:lstStyle>
            <a:lvl1pPr algn="l">
              <a:defRPr sz="5400" b="1">
                <a:solidFill>
                  <a:srgbClr val="FFFFFF"/>
                </a:solidFill>
              </a:defRPr>
            </a:lvl1pPr>
          </a:lstStyle>
          <a:p>
            <a:r>
              <a:t>Click to add title</a:t>
            </a:r>
          </a:p>
        </p:txBody>
      </p:sp>
      <p:sp>
        <p:nvSpPr>
          <p:cNvPr id="20" name="Text 0"/>
          <p:cNvSpPr>
            <a:spLocks noGrp="1"/>
          </p:cNvSpPr>
          <p:nvPr>
            <p:ph type="body" sz="quarter" idx="21" hasCustomPrompt="1"/>
          </p:nvPr>
        </p:nvSpPr>
        <p:spPr>
          <a:xfrm>
            <a:off x="731519" y="3337559"/>
            <a:ext cx="5120642" cy="914401"/>
          </a:xfrm>
          <a:prstGeom prst="rect">
            <a:avLst/>
          </a:prstGeom>
        </p:spPr>
        <p:txBody>
          <a:bodyPr>
            <a:normAutofit/>
          </a:bodyPr>
          <a:lstStyle>
            <a:lvl1pPr marL="0" indent="0">
              <a:spcBef>
                <a:spcPts val="500"/>
              </a:spcBef>
              <a:buSzTx/>
              <a:buFontTx/>
              <a:buNone/>
              <a:defRPr sz="2200">
                <a:solidFill>
                  <a:schemeClr val="accent6"/>
                </a:solidFill>
              </a:defRPr>
            </a:lvl1pPr>
          </a:lstStyle>
          <a:p>
            <a:r>
              <a:t>Click to add text</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LIGHT">
    <p:spTree>
      <p:nvGrpSpPr>
        <p:cNvPr id="1" name=""/>
        <p:cNvGrpSpPr/>
        <p:nvPr/>
      </p:nvGrpSpPr>
      <p:grpSpPr>
        <a:xfrm>
          <a:off x="0" y="0"/>
          <a:ext cx="0" cy="0"/>
          <a:chOff x="0" y="0"/>
          <a:chExt cx="0" cy="0"/>
        </a:xfrm>
      </p:grpSpPr>
      <p:sp>
        <p:nvSpPr>
          <p:cNvPr id="28" name="Body Level One…"/>
          <p:cNvSpPr txBox="1">
            <a:spLocks noGrp="1"/>
          </p:cNvSpPr>
          <p:nvPr>
            <p:ph type="body" sz="quarter" idx="1" hasCustomPrompt="1"/>
          </p:nvPr>
        </p:nvSpPr>
        <p:spPr>
          <a:xfrm>
            <a:off x="640080" y="502919"/>
            <a:ext cx="7315201" cy="320041"/>
          </a:xfrm>
          <a:prstGeom prst="rect">
            <a:avLst/>
          </a:prstGeom>
        </p:spPr>
        <p:txBody>
          <a:bodyPr>
            <a:normAutofit/>
          </a:bodyPr>
          <a:lstStyle>
            <a:lvl1pPr marL="0" indent="0">
              <a:spcBef>
                <a:spcPts val="200"/>
              </a:spcBef>
              <a:buSzTx/>
              <a:buFontTx/>
              <a:buNone/>
              <a:defRPr sz="1200" b="1" spc="300">
                <a:solidFill>
                  <a:schemeClr val="accent4"/>
                </a:solidFill>
              </a:defRPr>
            </a:lvl1pPr>
            <a:lvl2pPr marL="579664" indent="-122464">
              <a:spcBef>
                <a:spcPts val="200"/>
              </a:spcBef>
              <a:buFontTx/>
              <a:defRPr sz="1200" b="1" spc="300">
                <a:solidFill>
                  <a:schemeClr val="accent4"/>
                </a:solidFill>
              </a:defRPr>
            </a:lvl2pPr>
            <a:lvl3pPr marL="1028700" indent="-114300">
              <a:spcBef>
                <a:spcPts val="200"/>
              </a:spcBef>
              <a:buFontTx/>
              <a:defRPr sz="1200" b="1" spc="300">
                <a:solidFill>
                  <a:schemeClr val="accent4"/>
                </a:solidFill>
              </a:defRPr>
            </a:lvl3pPr>
            <a:lvl4pPr marL="1508760" indent="-137160">
              <a:spcBef>
                <a:spcPts val="200"/>
              </a:spcBef>
              <a:buFontTx/>
              <a:defRPr sz="1200" b="1" spc="300">
                <a:solidFill>
                  <a:schemeClr val="accent4"/>
                </a:solidFill>
              </a:defRPr>
            </a:lvl4pPr>
            <a:lvl5pPr marL="1965960" indent="-137160">
              <a:spcBef>
                <a:spcPts val="200"/>
              </a:spcBef>
              <a:buFontTx/>
              <a:defRPr sz="1200" b="1" spc="300">
                <a:solidFill>
                  <a:schemeClr val="accent4"/>
                </a:solidFill>
              </a:defRPr>
            </a:lvl5pPr>
          </a:lstStyle>
          <a:p>
            <a:r>
              <a:t>Click to add text</a:t>
            </a:r>
          </a:p>
          <a:p>
            <a:pPr lvl="1"/>
            <a:endParaRPr/>
          </a:p>
          <a:p>
            <a:pPr lvl="2"/>
            <a:endParaRPr/>
          </a:p>
          <a:p>
            <a:pPr lvl="3"/>
            <a:endParaRPr/>
          </a:p>
          <a:p>
            <a:pPr lvl="4"/>
            <a:endParaRPr/>
          </a:p>
        </p:txBody>
      </p:sp>
      <p:sp>
        <p:nvSpPr>
          <p:cNvPr id="29" name="Click to add title"/>
          <p:cNvSpPr txBox="1">
            <a:spLocks noGrp="1"/>
          </p:cNvSpPr>
          <p:nvPr>
            <p:ph type="title" hasCustomPrompt="1"/>
          </p:nvPr>
        </p:nvSpPr>
        <p:spPr>
          <a:xfrm>
            <a:off x="640080" y="868680"/>
            <a:ext cx="10911535" cy="822961"/>
          </a:xfrm>
          <a:prstGeom prst="rect">
            <a:avLst/>
          </a:prstGeom>
        </p:spPr>
        <p:txBody>
          <a:bodyPr anchor="t">
            <a:normAutofit/>
          </a:bodyPr>
          <a:lstStyle>
            <a:lvl1pPr>
              <a:defRPr sz="3800" b="1"/>
            </a:lvl1pPr>
          </a:lstStyle>
          <a:p>
            <a:r>
              <a:t>Click to add title</a:t>
            </a:r>
          </a:p>
        </p:txBody>
      </p:sp>
      <p:sp>
        <p:nvSpPr>
          <p:cNvPr id="30" name="Text 0"/>
          <p:cNvSpPr txBox="1"/>
          <p:nvPr/>
        </p:nvSpPr>
        <p:spPr>
          <a:xfrm>
            <a:off x="640080" y="6423704"/>
            <a:ext cx="3657601"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a:solidFill>
                  <a:schemeClr val="accent3"/>
                </a:solidFill>
              </a:defRPr>
            </a:lvl1pPr>
          </a:lstStyle>
          <a:p>
            <a:r>
              <a:t>SkyRoute Warsaw</a:t>
            </a:r>
          </a:p>
        </p:txBody>
      </p:sp>
      <p:sp>
        <p:nvSpPr>
          <p:cNvPr id="31" name="Slide Number"/>
          <p:cNvSpPr txBox="1">
            <a:spLocks noGrp="1"/>
          </p:cNvSpPr>
          <p:nvPr>
            <p:ph type="sldNum" sz="quarter" idx="2"/>
          </p:nvPr>
        </p:nvSpPr>
        <p:spPr>
          <a:xfrm>
            <a:off x="11318738" y="6355079"/>
            <a:ext cx="232878" cy="22851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ARK">
    <p:bg>
      <p:bgPr>
        <a:solidFill>
          <a:srgbClr val="0B1B2B"/>
        </a:solidFill>
        <a:effectLst/>
      </p:bgPr>
    </p:bg>
    <p:spTree>
      <p:nvGrpSpPr>
        <p:cNvPr id="1" name=""/>
        <p:cNvGrpSpPr/>
        <p:nvPr/>
      </p:nvGrpSpPr>
      <p:grpSpPr>
        <a:xfrm>
          <a:off x="0" y="0"/>
          <a:ext cx="0" cy="0"/>
          <a:chOff x="0" y="0"/>
          <a:chExt cx="0" cy="0"/>
        </a:xfrm>
      </p:grpSpPr>
      <p:sp>
        <p:nvSpPr>
          <p:cNvPr id="38" name="Body Level One…"/>
          <p:cNvSpPr txBox="1">
            <a:spLocks noGrp="1"/>
          </p:cNvSpPr>
          <p:nvPr>
            <p:ph type="body" sz="quarter" idx="1" hasCustomPrompt="1"/>
          </p:nvPr>
        </p:nvSpPr>
        <p:spPr>
          <a:xfrm>
            <a:off x="640080" y="502919"/>
            <a:ext cx="7315201" cy="320041"/>
          </a:xfrm>
          <a:prstGeom prst="rect">
            <a:avLst/>
          </a:prstGeom>
        </p:spPr>
        <p:txBody>
          <a:bodyPr>
            <a:normAutofit/>
          </a:bodyPr>
          <a:lstStyle>
            <a:lvl1pPr marL="0" indent="0">
              <a:spcBef>
                <a:spcPts val="200"/>
              </a:spcBef>
              <a:buSzTx/>
              <a:buFontTx/>
              <a:buNone/>
              <a:defRPr sz="1200" b="1" spc="300">
                <a:solidFill>
                  <a:schemeClr val="accent1"/>
                </a:solidFill>
              </a:defRPr>
            </a:lvl1pPr>
            <a:lvl2pPr marL="579664" indent="-122464">
              <a:spcBef>
                <a:spcPts val="200"/>
              </a:spcBef>
              <a:buFontTx/>
              <a:defRPr sz="1200" b="1" spc="300">
                <a:solidFill>
                  <a:schemeClr val="accent1"/>
                </a:solidFill>
              </a:defRPr>
            </a:lvl2pPr>
            <a:lvl3pPr marL="1028700" indent="-114300">
              <a:spcBef>
                <a:spcPts val="200"/>
              </a:spcBef>
              <a:buFontTx/>
              <a:defRPr sz="1200" b="1" spc="300">
                <a:solidFill>
                  <a:schemeClr val="accent1"/>
                </a:solidFill>
              </a:defRPr>
            </a:lvl3pPr>
            <a:lvl4pPr marL="1508760" indent="-137160">
              <a:spcBef>
                <a:spcPts val="200"/>
              </a:spcBef>
              <a:buFontTx/>
              <a:defRPr sz="1200" b="1" spc="300">
                <a:solidFill>
                  <a:schemeClr val="accent1"/>
                </a:solidFill>
              </a:defRPr>
            </a:lvl4pPr>
            <a:lvl5pPr marL="1965960" indent="-137160">
              <a:spcBef>
                <a:spcPts val="200"/>
              </a:spcBef>
              <a:buFontTx/>
              <a:defRPr sz="1200" b="1" spc="300">
                <a:solidFill>
                  <a:schemeClr val="accent1"/>
                </a:solidFill>
              </a:defRPr>
            </a:lvl5pPr>
          </a:lstStyle>
          <a:p>
            <a:r>
              <a:t>Click to add text</a:t>
            </a:r>
          </a:p>
          <a:p>
            <a:pPr lvl="1"/>
            <a:endParaRPr/>
          </a:p>
          <a:p>
            <a:pPr lvl="2"/>
            <a:endParaRPr/>
          </a:p>
          <a:p>
            <a:pPr lvl="3"/>
            <a:endParaRPr/>
          </a:p>
          <a:p>
            <a:pPr lvl="4"/>
            <a:endParaRPr/>
          </a:p>
        </p:txBody>
      </p:sp>
      <p:sp>
        <p:nvSpPr>
          <p:cNvPr id="39" name="Click to add title"/>
          <p:cNvSpPr txBox="1">
            <a:spLocks noGrp="1"/>
          </p:cNvSpPr>
          <p:nvPr>
            <p:ph type="title" hasCustomPrompt="1"/>
          </p:nvPr>
        </p:nvSpPr>
        <p:spPr>
          <a:xfrm>
            <a:off x="640080" y="868680"/>
            <a:ext cx="10911535" cy="822961"/>
          </a:xfrm>
          <a:prstGeom prst="rect">
            <a:avLst/>
          </a:prstGeom>
        </p:spPr>
        <p:txBody>
          <a:bodyPr anchor="t">
            <a:normAutofit/>
          </a:bodyPr>
          <a:lstStyle>
            <a:lvl1pPr>
              <a:defRPr sz="3800" b="1">
                <a:solidFill>
                  <a:srgbClr val="FFFFFF"/>
                </a:solidFill>
              </a:defRPr>
            </a:lvl1pPr>
          </a:lstStyle>
          <a:p>
            <a:r>
              <a:t>Click to add title</a:t>
            </a:r>
          </a:p>
        </p:txBody>
      </p:sp>
      <p:sp>
        <p:nvSpPr>
          <p:cNvPr id="40" name="Text 0"/>
          <p:cNvSpPr txBox="1"/>
          <p:nvPr/>
        </p:nvSpPr>
        <p:spPr>
          <a:xfrm>
            <a:off x="640080" y="6423704"/>
            <a:ext cx="3657601"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a:solidFill>
                  <a:schemeClr val="accent6"/>
                </a:solidFill>
              </a:defRPr>
            </a:lvl1pPr>
          </a:lstStyle>
          <a:p>
            <a:r>
              <a:t>SkyRoute Warsaw</a:t>
            </a:r>
          </a:p>
        </p:txBody>
      </p:sp>
      <p:sp>
        <p:nvSpPr>
          <p:cNvPr id="41" name="Slide Number"/>
          <p:cNvSpPr txBox="1">
            <a:spLocks noGrp="1"/>
          </p:cNvSpPr>
          <p:nvPr>
            <p:ph type="sldNum" sz="quarter" idx="2"/>
          </p:nvPr>
        </p:nvSpPr>
        <p:spPr>
          <a:xfrm>
            <a:off x="11318738" y="6355079"/>
            <a:ext cx="232878" cy="228512"/>
          </a:xfrm>
          <a:prstGeom prst="rect">
            <a:avLst/>
          </a:prstGeom>
        </p:spPr>
        <p:txBody>
          <a:bodyPr/>
          <a:lstStyle>
            <a:lvl1pPr>
              <a:defRPr>
                <a:solidFill>
                  <a:schemeClr val="accent6"/>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3"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1000">
                <a:solidFill>
                  <a:schemeClr val="accent3"/>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01828"/>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01828"/>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01828"/>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01828"/>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01828"/>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01828"/>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01828"/>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01828"/>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01828"/>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01828"/>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01828"/>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01828"/>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01828"/>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01828"/>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01828"/>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01828"/>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01828"/>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01828"/>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 0"/>
          <p:cNvSpPr txBox="1">
            <a:spLocks noGrp="1"/>
          </p:cNvSpPr>
          <p:nvPr>
            <p:ph type="body" sz="quarter" idx="1"/>
          </p:nvPr>
        </p:nvSpPr>
        <p:spPr>
          <a:prstGeom prst="rect">
            <a:avLst/>
          </a:prstGeom>
        </p:spPr>
        <p:txBody>
          <a:bodyPr lIns="0" tIns="0" rIns="0" bIns="0"/>
          <a:lstStyle/>
          <a:p>
            <a:r>
              <a:t>DRONE DELIVERY ROUTING</a:t>
            </a:r>
          </a:p>
        </p:txBody>
      </p:sp>
      <p:sp>
        <p:nvSpPr>
          <p:cNvPr id="51" name="Text 0"/>
          <p:cNvSpPr txBox="1">
            <a:spLocks noGrp="1"/>
          </p:cNvSpPr>
          <p:nvPr>
            <p:ph type="title"/>
          </p:nvPr>
        </p:nvSpPr>
        <p:spPr>
          <a:xfrm>
            <a:off x="731519" y="2194560"/>
            <a:ext cx="5486401" cy="1005840"/>
          </a:xfrm>
          <a:prstGeom prst="rect">
            <a:avLst/>
          </a:prstGeom>
        </p:spPr>
        <p:txBody>
          <a:bodyPr lIns="0" tIns="0" rIns="0" bIns="0"/>
          <a:lstStyle/>
          <a:p>
            <a:r>
              <a:t>SkyRoute Warsaw</a:t>
            </a:r>
          </a:p>
        </p:txBody>
      </p:sp>
      <p:sp>
        <p:nvSpPr>
          <p:cNvPr id="52" name="Text 0"/>
          <p:cNvSpPr>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Step into the future of drone delivery</a:t>
            </a:r>
          </a:p>
        </p:txBody>
      </p:sp>
      <p:sp>
        <p:nvSpPr>
          <p:cNvPr id="53" name="Team label"/>
          <p:cNvSpPr txBox="1"/>
          <p:nvPr/>
        </p:nvSpPr>
        <p:spPr>
          <a:xfrm>
            <a:off x="731519" y="5074920"/>
            <a:ext cx="4572001"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400" b="1" spc="300">
                <a:solidFill>
                  <a:schemeClr val="accent1"/>
                </a:solidFill>
              </a:defRPr>
            </a:pPr>
            <a:r>
              <a:t>TEAM  </a:t>
            </a:r>
            <a:r>
              <a:rPr b="0" spc="0">
                <a:solidFill>
                  <a:srgbClr val="FFFFFF"/>
                </a:solidFill>
              </a:rPr>
              <a:t>Data_City</a:t>
            </a:r>
          </a:p>
        </p:txBody>
      </p:sp>
      <p:pic>
        <p:nvPicPr>
          <p:cNvPr id="54" name="Route around restricted zone" descr="Route around restricted zone"/>
          <p:cNvPicPr>
            <a:picLocks noChangeAspect="1"/>
          </p:cNvPicPr>
          <p:nvPr/>
        </p:nvPicPr>
        <p:blipFill>
          <a:blip r:embed="rId3"/>
          <a:stretch>
            <a:fillRect/>
          </a:stretch>
        </p:blipFill>
        <p:spPr>
          <a:xfrm>
            <a:off x="6309359" y="1005839"/>
            <a:ext cx="5303521" cy="4818889"/>
          </a:xfrm>
          <a:prstGeom prst="rect">
            <a:avLst/>
          </a:prstGeom>
          <a:ln w="12700">
            <a:miter lim="400000"/>
          </a:ln>
        </p:spPr>
      </p:pic>
      <p:sp>
        <p:nvSpPr>
          <p:cNvPr id="55" name="Restricted label"/>
          <p:cNvSpPr txBox="1"/>
          <p:nvPr/>
        </p:nvSpPr>
        <p:spPr>
          <a:xfrm>
            <a:off x="8046719" y="3273552"/>
            <a:ext cx="1828801"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100" b="1" spc="200">
                <a:solidFill>
                  <a:schemeClr val="accent6"/>
                </a:solidFill>
              </a:defRPr>
            </a:lvl1pPr>
          </a:lstStyle>
          <a:p>
            <a:r>
              <a:t>RESTRICTED</a:t>
            </a:r>
          </a:p>
        </p:txBody>
      </p:sp>
      <p:sp>
        <p:nvSpPr>
          <p:cNvPr id="56" name="Point A label"/>
          <p:cNvSpPr txBox="1"/>
          <p:nvPr/>
        </p:nvSpPr>
        <p:spPr>
          <a:xfrm>
            <a:off x="6492240" y="5074920"/>
            <a:ext cx="365761"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b="1">
                <a:solidFill>
                  <a:srgbClr val="FFFFFF"/>
                </a:solidFill>
              </a:defRPr>
            </a:lvl1pPr>
          </a:lstStyle>
          <a:p>
            <a:r>
              <a:t>A</a:t>
            </a:r>
          </a:p>
        </p:txBody>
      </p:sp>
      <p:sp>
        <p:nvSpPr>
          <p:cNvPr id="57" name="Point B label"/>
          <p:cNvSpPr txBox="1"/>
          <p:nvPr/>
        </p:nvSpPr>
        <p:spPr>
          <a:xfrm>
            <a:off x="11155680" y="1417319"/>
            <a:ext cx="365761"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b="1">
                <a:solidFill>
                  <a:srgbClr val="FFFFFF"/>
                </a:solidFill>
              </a:defRPr>
            </a:lvl1pPr>
          </a:lstStyle>
          <a:p>
            <a:r>
              <a:t>B</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 0"/>
          <p:cNvSpPr txBox="1">
            <a:spLocks noGrp="1"/>
          </p:cNvSpPr>
          <p:nvPr>
            <p:ph type="body" sz="quarter" idx="1"/>
          </p:nvPr>
        </p:nvSpPr>
        <p:spPr>
          <a:prstGeom prst="rect">
            <a:avLst/>
          </a:prstGeom>
        </p:spPr>
        <p:txBody>
          <a:bodyPr lIns="0" tIns="0" rIns="0" bIns="0"/>
          <a:lstStyle/>
          <a:p>
            <a:r>
              <a:t>THE VISION</a:t>
            </a:r>
          </a:p>
        </p:txBody>
      </p:sp>
      <p:sp>
        <p:nvSpPr>
          <p:cNvPr id="62" name="Text 0"/>
          <p:cNvSpPr txBox="1">
            <a:spLocks noGrp="1"/>
          </p:cNvSpPr>
          <p:nvPr>
            <p:ph type="title"/>
          </p:nvPr>
        </p:nvSpPr>
        <p:spPr>
          <a:xfrm>
            <a:off x="640079" y="868680"/>
            <a:ext cx="10911537" cy="822961"/>
          </a:xfrm>
          <a:prstGeom prst="rect">
            <a:avLst/>
          </a:prstGeom>
        </p:spPr>
        <p:txBody>
          <a:bodyPr lIns="0" tIns="0" rIns="0" bIns="0"/>
          <a:lstStyle>
            <a:lvl1pPr algn="l"/>
          </a:lstStyle>
          <a:p>
            <a:r>
              <a:t>Faster deliveries, safer routes</a:t>
            </a:r>
          </a:p>
        </p:txBody>
      </p:sp>
      <p:sp>
        <p:nvSpPr>
          <p:cNvPr id="63" name="Row divider 1"/>
          <p:cNvSpPr/>
          <p:nvPr/>
        </p:nvSpPr>
        <p:spPr>
          <a:xfrm>
            <a:off x="640079" y="3017520"/>
            <a:ext cx="10911537" cy="1"/>
          </a:xfrm>
          <a:prstGeom prst="line">
            <a:avLst/>
          </a:prstGeom>
          <a:ln>
            <a:solidFill>
              <a:schemeClr val="accent6"/>
            </a:solidFill>
          </a:ln>
        </p:spPr>
        <p:txBody>
          <a:bodyPr lIns="45719" rIns="45719"/>
          <a:lstStyle/>
          <a:p>
            <a:endParaRPr/>
          </a:p>
        </p:txBody>
      </p:sp>
      <p:sp>
        <p:nvSpPr>
          <p:cNvPr id="64" name="Row divider 2"/>
          <p:cNvSpPr/>
          <p:nvPr/>
        </p:nvSpPr>
        <p:spPr>
          <a:xfrm>
            <a:off x="640079" y="4617720"/>
            <a:ext cx="10911537" cy="1"/>
          </a:xfrm>
          <a:prstGeom prst="line">
            <a:avLst/>
          </a:prstGeom>
          <a:ln>
            <a:solidFill>
              <a:schemeClr val="accent6"/>
            </a:solidFill>
          </a:ln>
        </p:spPr>
        <p:txBody>
          <a:bodyPr lIns="45719" rIns="45719"/>
          <a:lstStyle/>
          <a:p>
            <a:endParaRPr/>
          </a:p>
        </p:txBody>
      </p:sp>
      <p:sp>
        <p:nvSpPr>
          <p:cNvPr id="65" name="Label The problem"/>
          <p:cNvSpPr txBox="1"/>
          <p:nvPr/>
        </p:nvSpPr>
        <p:spPr>
          <a:xfrm>
            <a:off x="640080" y="2039111"/>
            <a:ext cx="2194561" cy="248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000" b="1">
                <a:solidFill>
                  <a:schemeClr val="accent4"/>
                </a:solidFill>
              </a:defRPr>
            </a:lvl1pPr>
          </a:lstStyle>
          <a:p>
            <a:r>
              <a:t>The problem</a:t>
            </a:r>
          </a:p>
        </p:txBody>
      </p:sp>
      <p:sp>
        <p:nvSpPr>
          <p:cNvPr id="66" name="Text The problem"/>
          <p:cNvSpPr txBox="1"/>
          <p:nvPr/>
        </p:nvSpPr>
        <p:spPr>
          <a:xfrm>
            <a:off x="3017520" y="1965960"/>
            <a:ext cx="8503920" cy="6536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spcBef>
                <a:spcPts val="600"/>
              </a:spcBef>
              <a:defRPr sz="2400" b="1"/>
            </a:pPr>
            <a:r>
              <a:t>Urgent and small deliveries get stuck in city traffic.</a:t>
            </a:r>
          </a:p>
          <a:p>
            <a:pPr>
              <a:defRPr sz="1600">
                <a:solidFill>
                  <a:schemeClr val="accent5"/>
                </a:solidFill>
              </a:defRPr>
            </a:pPr>
            <a:r>
              <a:t>Road congestion slows exactly the deliveries where minutes matter.</a:t>
            </a:r>
          </a:p>
        </p:txBody>
      </p:sp>
      <p:sp>
        <p:nvSpPr>
          <p:cNvPr id="67" name="Label The idea"/>
          <p:cNvSpPr txBox="1"/>
          <p:nvPr/>
        </p:nvSpPr>
        <p:spPr>
          <a:xfrm>
            <a:off x="640080" y="3273552"/>
            <a:ext cx="2194561" cy="248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000" b="1">
                <a:solidFill>
                  <a:schemeClr val="accent4"/>
                </a:solidFill>
              </a:defRPr>
            </a:lvl1pPr>
          </a:lstStyle>
          <a:p>
            <a:r>
              <a:t>The idea</a:t>
            </a:r>
          </a:p>
        </p:txBody>
      </p:sp>
      <p:sp>
        <p:nvSpPr>
          <p:cNvPr id="68" name="Text The idea"/>
          <p:cNvSpPr txBox="1"/>
          <p:nvPr/>
        </p:nvSpPr>
        <p:spPr>
          <a:xfrm>
            <a:off x="3017520" y="3200400"/>
            <a:ext cx="8503920" cy="10219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spcBef>
                <a:spcPts val="600"/>
              </a:spcBef>
              <a:defRPr sz="2400" b="1"/>
            </a:pPr>
            <a:r>
              <a:t>Drones that fly over the congestion, on routes chosen for both speed and safety.</a:t>
            </a:r>
          </a:p>
          <a:p>
            <a:pPr>
              <a:defRPr sz="1600">
                <a:solidFill>
                  <a:schemeClr val="accent5"/>
                </a:solidFill>
              </a:defRPr>
            </a:pPr>
            <a:r>
              <a:t>The router avoids airports, military sites, government buildings and tall buildings.</a:t>
            </a:r>
          </a:p>
        </p:txBody>
      </p:sp>
      <p:sp>
        <p:nvSpPr>
          <p:cNvPr id="69" name="Label The goal"/>
          <p:cNvSpPr txBox="1"/>
          <p:nvPr/>
        </p:nvSpPr>
        <p:spPr>
          <a:xfrm>
            <a:off x="640080" y="4873752"/>
            <a:ext cx="2194561" cy="248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000" b="1">
                <a:solidFill>
                  <a:schemeClr val="accent4"/>
                </a:solidFill>
              </a:defRPr>
            </a:lvl1pPr>
          </a:lstStyle>
          <a:p>
            <a:r>
              <a:t>The goal</a:t>
            </a:r>
          </a:p>
        </p:txBody>
      </p:sp>
      <p:sp>
        <p:nvSpPr>
          <p:cNvPr id="70" name="Text The goal"/>
          <p:cNvSpPr txBox="1"/>
          <p:nvPr/>
        </p:nvSpPr>
        <p:spPr>
          <a:xfrm>
            <a:off x="3017520" y="4800600"/>
            <a:ext cx="8503920" cy="10219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spcBef>
                <a:spcPts val="600"/>
              </a:spcBef>
              <a:defRPr sz="2400" b="1"/>
            </a:pPr>
            <a:r>
              <a:t>Faster deliveries, including emergencies, without adding risk for the people below.</a:t>
            </a:r>
          </a:p>
          <a:p>
            <a:pPr>
              <a:defRPr sz="1600">
                <a:solidFill>
                  <a:schemeClr val="accent5"/>
                </a:solidFill>
              </a:defRPr>
            </a:pPr>
            <a:r>
              <a:t>Emergency mode gets no special access: safety is never traded for speed.</a:t>
            </a:r>
          </a:p>
        </p:txBody>
      </p:sp>
      <p:sp>
        <p:nvSpPr>
          <p:cNvPr id="71" name="Slide Number Placeholder 0"/>
          <p:cNvSpPr txBox="1">
            <a:spLocks noGrp="1"/>
          </p:cNvSpPr>
          <p:nvPr>
            <p:ph type="sldNum" sz="quarter" idx="4294967295"/>
          </p:nvPr>
        </p:nvSpPr>
        <p:spPr>
          <a:xfrm>
            <a:off x="11383106" y="6355079"/>
            <a:ext cx="168510"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 0"/>
          <p:cNvSpPr txBox="1">
            <a:spLocks noGrp="1"/>
          </p:cNvSpPr>
          <p:nvPr>
            <p:ph type="body" sz="quarter" idx="1"/>
          </p:nvPr>
        </p:nvSpPr>
        <p:spPr>
          <a:prstGeom prst="rect">
            <a:avLst/>
          </a:prstGeom>
        </p:spPr>
        <p:txBody>
          <a:bodyPr lIns="0" tIns="0" rIns="0" bIns="0"/>
          <a:lstStyle/>
          <a:p>
            <a:r>
              <a:t>OUR SOLUTION</a:t>
            </a:r>
          </a:p>
        </p:txBody>
      </p:sp>
      <p:sp>
        <p:nvSpPr>
          <p:cNvPr id="76" name="Text 0"/>
          <p:cNvSpPr txBox="1">
            <a:spLocks noGrp="1"/>
          </p:cNvSpPr>
          <p:nvPr>
            <p:ph type="title"/>
          </p:nvPr>
        </p:nvSpPr>
        <p:spPr>
          <a:xfrm>
            <a:off x="640079" y="868680"/>
            <a:ext cx="10911537" cy="822961"/>
          </a:xfrm>
          <a:prstGeom prst="rect">
            <a:avLst/>
          </a:prstGeom>
        </p:spPr>
        <p:txBody>
          <a:bodyPr lIns="0" tIns="0" rIns="0" bIns="0"/>
          <a:lstStyle>
            <a:lvl1pPr algn="l"/>
          </a:lstStyle>
          <a:p>
            <a:r>
              <a:t>SkyRoute: Maps for drones</a:t>
            </a:r>
          </a:p>
        </p:txBody>
      </p:sp>
      <p:sp>
        <p:nvSpPr>
          <p:cNvPr id="77" name="Solution statement"/>
          <p:cNvSpPr txBox="1"/>
          <p:nvPr/>
        </p:nvSpPr>
        <p:spPr>
          <a:xfrm>
            <a:off x="640080" y="1783079"/>
            <a:ext cx="9601201" cy="5535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000">
                <a:solidFill>
                  <a:schemeClr val="accent5"/>
                </a:solidFill>
              </a:defRPr>
            </a:lvl1pPr>
          </a:lstStyle>
          <a:p>
            <a:r>
              <a:t>A drone routing system that finds the safest, most efficient, priority-based route from source to destination.</a:t>
            </a:r>
          </a:p>
        </p:txBody>
      </p:sp>
      <p:sp>
        <p:nvSpPr>
          <p:cNvPr id="78" name="Icon circle Plan"/>
          <p:cNvSpPr/>
          <p:nvPr/>
        </p:nvSpPr>
        <p:spPr>
          <a:xfrm>
            <a:off x="640080" y="3017520"/>
            <a:ext cx="777241" cy="777241"/>
          </a:xfrm>
          <a:prstGeom prst="ellipse">
            <a:avLst/>
          </a:prstGeom>
          <a:solidFill>
            <a:srgbClr val="F4F6F8"/>
          </a:solidFill>
          <a:ln w="12700">
            <a:miter lim="400000"/>
          </a:ln>
        </p:spPr>
        <p:txBody>
          <a:bodyPr lIns="45719" rIns="45719"/>
          <a:lstStyle/>
          <a:p>
            <a:endParaRPr/>
          </a:p>
        </p:txBody>
      </p:sp>
      <p:pic>
        <p:nvPicPr>
          <p:cNvPr id="79" name="Icon Plan" descr="Icon Plan"/>
          <p:cNvPicPr>
            <a:picLocks noChangeAspect="1"/>
          </p:cNvPicPr>
          <p:nvPr/>
        </p:nvPicPr>
        <p:blipFill>
          <a:blip r:embed="rId3"/>
          <a:stretch>
            <a:fillRect/>
          </a:stretch>
        </p:blipFill>
        <p:spPr>
          <a:xfrm>
            <a:off x="822960" y="3200400"/>
            <a:ext cx="411481" cy="411481"/>
          </a:xfrm>
          <a:prstGeom prst="rect">
            <a:avLst/>
          </a:prstGeom>
          <a:ln w="12700">
            <a:miter lim="400000"/>
          </a:ln>
        </p:spPr>
      </p:pic>
      <p:sp>
        <p:nvSpPr>
          <p:cNvPr id="80" name="Heading Plan"/>
          <p:cNvSpPr txBox="1"/>
          <p:nvPr/>
        </p:nvSpPr>
        <p:spPr>
          <a:xfrm>
            <a:off x="640080" y="4023359"/>
            <a:ext cx="3332379" cy="3010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400" b="1"/>
            </a:lvl1pPr>
          </a:lstStyle>
          <a:p>
            <a:r>
              <a:t>Plan</a:t>
            </a:r>
          </a:p>
        </p:txBody>
      </p:sp>
      <p:sp>
        <p:nvSpPr>
          <p:cNvPr id="81" name="Body Plan"/>
          <p:cNvSpPr txBox="1"/>
          <p:nvPr/>
        </p:nvSpPr>
        <p:spPr>
          <a:xfrm>
            <a:off x="640079" y="4526279"/>
            <a:ext cx="3149500" cy="12251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600">
                <a:solidFill>
                  <a:schemeClr val="accent5"/>
                </a:solidFill>
              </a:defRPr>
            </a:lvl1pPr>
          </a:lstStyle>
          <a:p>
            <a:r>
              <a:t>Type two Warsaw addresses. We match the exact building from the official address register and route around every red area, using live wind.</a:t>
            </a:r>
          </a:p>
        </p:txBody>
      </p:sp>
      <p:sp>
        <p:nvSpPr>
          <p:cNvPr id="82" name="Icon circle Simulate"/>
          <p:cNvSpPr/>
          <p:nvPr/>
        </p:nvSpPr>
        <p:spPr>
          <a:xfrm>
            <a:off x="4429657" y="3017520"/>
            <a:ext cx="777241" cy="777241"/>
          </a:xfrm>
          <a:prstGeom prst="ellipse">
            <a:avLst/>
          </a:prstGeom>
          <a:solidFill>
            <a:srgbClr val="F4F6F8"/>
          </a:solidFill>
          <a:ln w="12700">
            <a:miter lim="400000"/>
          </a:ln>
        </p:spPr>
        <p:txBody>
          <a:bodyPr lIns="45719" rIns="45719"/>
          <a:lstStyle/>
          <a:p>
            <a:endParaRPr/>
          </a:p>
        </p:txBody>
      </p:sp>
      <p:pic>
        <p:nvPicPr>
          <p:cNvPr id="83" name="Icon Simulate" descr="Icon Simulate"/>
          <p:cNvPicPr>
            <a:picLocks noChangeAspect="1"/>
          </p:cNvPicPr>
          <p:nvPr/>
        </p:nvPicPr>
        <p:blipFill>
          <a:blip r:embed="rId4"/>
          <a:stretch>
            <a:fillRect/>
          </a:stretch>
        </p:blipFill>
        <p:spPr>
          <a:xfrm>
            <a:off x="4612537" y="3200400"/>
            <a:ext cx="411481" cy="411481"/>
          </a:xfrm>
          <a:prstGeom prst="rect">
            <a:avLst/>
          </a:prstGeom>
          <a:ln w="12700">
            <a:miter lim="400000"/>
          </a:ln>
        </p:spPr>
      </p:pic>
      <p:sp>
        <p:nvSpPr>
          <p:cNvPr id="84" name="Heading Simulate"/>
          <p:cNvSpPr txBox="1"/>
          <p:nvPr/>
        </p:nvSpPr>
        <p:spPr>
          <a:xfrm>
            <a:off x="4429657" y="4023359"/>
            <a:ext cx="3332379" cy="3010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400" b="1"/>
            </a:lvl1pPr>
          </a:lstStyle>
          <a:p>
            <a:r>
              <a:t>Simulate</a:t>
            </a:r>
          </a:p>
        </p:txBody>
      </p:sp>
      <p:sp>
        <p:nvSpPr>
          <p:cNvPr id="85" name="Body Simulate"/>
          <p:cNvSpPr txBox="1"/>
          <p:nvPr/>
        </p:nvSpPr>
        <p:spPr>
          <a:xfrm>
            <a:off x="4429657" y="4526279"/>
            <a:ext cx="3149499" cy="7171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600">
                <a:solidFill>
                  <a:schemeClr val="accent5"/>
                </a:solidFill>
              </a:defRPr>
            </a:lvl1pPr>
          </a:lstStyle>
          <a:p>
            <a:r>
              <a:t>A virtual drone flies the route, then returns on a separately calculated, validated route.</a:t>
            </a:r>
          </a:p>
        </p:txBody>
      </p:sp>
      <p:sp>
        <p:nvSpPr>
          <p:cNvPr id="86" name="Icon circle Dispatch"/>
          <p:cNvSpPr/>
          <p:nvPr/>
        </p:nvSpPr>
        <p:spPr>
          <a:xfrm>
            <a:off x="8219237" y="3017520"/>
            <a:ext cx="777241" cy="777241"/>
          </a:xfrm>
          <a:prstGeom prst="ellipse">
            <a:avLst/>
          </a:prstGeom>
          <a:solidFill>
            <a:srgbClr val="F4F6F8"/>
          </a:solidFill>
          <a:ln w="12700">
            <a:miter lim="400000"/>
          </a:ln>
        </p:spPr>
        <p:txBody>
          <a:bodyPr lIns="45719" rIns="45719"/>
          <a:lstStyle/>
          <a:p>
            <a:endParaRPr/>
          </a:p>
        </p:txBody>
      </p:sp>
      <p:pic>
        <p:nvPicPr>
          <p:cNvPr id="87" name="Icon Dispatch" descr="Icon Dispatch"/>
          <p:cNvPicPr>
            <a:picLocks noChangeAspect="1"/>
          </p:cNvPicPr>
          <p:nvPr/>
        </p:nvPicPr>
        <p:blipFill>
          <a:blip r:embed="rId5"/>
          <a:stretch>
            <a:fillRect/>
          </a:stretch>
        </p:blipFill>
        <p:spPr>
          <a:xfrm>
            <a:off x="8402117" y="3200400"/>
            <a:ext cx="411481" cy="411481"/>
          </a:xfrm>
          <a:prstGeom prst="rect">
            <a:avLst/>
          </a:prstGeom>
          <a:ln w="12700">
            <a:miter lim="400000"/>
          </a:ln>
        </p:spPr>
      </p:pic>
      <p:sp>
        <p:nvSpPr>
          <p:cNvPr id="88" name="Heading Dispatch"/>
          <p:cNvSpPr txBox="1"/>
          <p:nvPr/>
        </p:nvSpPr>
        <p:spPr>
          <a:xfrm>
            <a:off x="8219237" y="4023359"/>
            <a:ext cx="3332379" cy="3010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400" b="1"/>
            </a:lvl1pPr>
          </a:lstStyle>
          <a:p>
            <a:r>
              <a:t>Dispatch</a:t>
            </a:r>
          </a:p>
        </p:txBody>
      </p:sp>
      <p:sp>
        <p:nvSpPr>
          <p:cNvPr id="89" name="Body Dispatch"/>
          <p:cNvSpPr txBox="1"/>
          <p:nvPr/>
        </p:nvSpPr>
        <p:spPr>
          <a:xfrm>
            <a:off x="7832003" y="4475658"/>
            <a:ext cx="3149499" cy="9711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600">
                <a:solidFill>
                  <a:schemeClr val="accent5"/>
                </a:solidFill>
              </a:defRPr>
            </a:lvl1pPr>
          </a:lstStyle>
          <a:p>
            <a:r>
              <a:t>For Emergencies or food order, we pick the nearest hospital as pickup and the drone that can do the round trip fastest.</a:t>
            </a:r>
          </a:p>
        </p:txBody>
      </p:sp>
      <p:sp>
        <p:nvSpPr>
          <p:cNvPr id="90" name="Slide Number Placeholder 0"/>
          <p:cNvSpPr txBox="1">
            <a:spLocks noGrp="1"/>
          </p:cNvSpPr>
          <p:nvPr>
            <p:ph type="sldNum" sz="quarter" idx="4294967295"/>
          </p:nvPr>
        </p:nvSpPr>
        <p:spPr>
          <a:xfrm>
            <a:off x="11383106" y="6355079"/>
            <a:ext cx="168510"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 0"/>
          <p:cNvSpPr txBox="1">
            <a:spLocks noGrp="1"/>
          </p:cNvSpPr>
          <p:nvPr>
            <p:ph type="body" sz="quarter" idx="1"/>
          </p:nvPr>
        </p:nvSpPr>
        <p:spPr>
          <a:prstGeom prst="rect">
            <a:avLst/>
          </a:prstGeom>
        </p:spPr>
        <p:txBody>
          <a:bodyPr lIns="0" tIns="0" rIns="0" bIns="0"/>
          <a:lstStyle/>
          <a:p>
            <a:r>
              <a:t>HOW IT WORKS</a:t>
            </a:r>
          </a:p>
        </p:txBody>
      </p:sp>
      <p:sp>
        <p:nvSpPr>
          <p:cNvPr id="95" name="Text 0"/>
          <p:cNvSpPr txBox="1">
            <a:spLocks noGrp="1"/>
          </p:cNvSpPr>
          <p:nvPr>
            <p:ph type="title"/>
          </p:nvPr>
        </p:nvSpPr>
        <p:spPr>
          <a:xfrm>
            <a:off x="640079" y="868680"/>
            <a:ext cx="10911537" cy="822961"/>
          </a:xfrm>
          <a:prstGeom prst="rect">
            <a:avLst/>
          </a:prstGeom>
        </p:spPr>
        <p:txBody>
          <a:bodyPr lIns="0" tIns="0" rIns="0" bIns="0"/>
          <a:lstStyle>
            <a:lvl1pPr algn="l"/>
          </a:lstStyle>
          <a:p>
            <a:r>
              <a:t>One pipeline for every route</a:t>
            </a:r>
          </a:p>
        </p:txBody>
      </p:sp>
      <p:sp>
        <p:nvSpPr>
          <p:cNvPr id="96" name="Connector 1"/>
          <p:cNvSpPr/>
          <p:nvPr/>
        </p:nvSpPr>
        <p:spPr>
          <a:xfrm>
            <a:off x="1389888" y="2423160"/>
            <a:ext cx="1948359" cy="1"/>
          </a:xfrm>
          <a:prstGeom prst="line">
            <a:avLst/>
          </a:prstGeom>
          <a:ln w="19050">
            <a:solidFill>
              <a:schemeClr val="accent6"/>
            </a:solidFill>
          </a:ln>
        </p:spPr>
        <p:txBody>
          <a:bodyPr lIns="45719" rIns="45719"/>
          <a:lstStyle/>
          <a:p>
            <a:endParaRPr/>
          </a:p>
        </p:txBody>
      </p:sp>
      <p:sp>
        <p:nvSpPr>
          <p:cNvPr id="97" name="Step circle 1"/>
          <p:cNvSpPr/>
          <p:nvPr/>
        </p:nvSpPr>
        <p:spPr>
          <a:xfrm>
            <a:off x="640080" y="2103120"/>
            <a:ext cx="640081" cy="640081"/>
          </a:xfrm>
          <a:prstGeom prst="ellipse">
            <a:avLst/>
          </a:prstGeom>
          <a:solidFill>
            <a:srgbClr val="101828"/>
          </a:solidFill>
          <a:ln w="12700">
            <a:miter lim="400000"/>
          </a:ln>
        </p:spPr>
        <p:txBody>
          <a:bodyPr lIns="45719" rIns="45719"/>
          <a:lstStyle/>
          <a:p>
            <a:endParaRPr/>
          </a:p>
        </p:txBody>
      </p:sp>
      <p:sp>
        <p:nvSpPr>
          <p:cNvPr id="98" name="Step number 1"/>
          <p:cNvSpPr txBox="1"/>
          <p:nvPr/>
        </p:nvSpPr>
        <p:spPr>
          <a:xfrm>
            <a:off x="640080" y="2298789"/>
            <a:ext cx="640081" cy="248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000" b="1">
                <a:solidFill>
                  <a:srgbClr val="FFFFFF"/>
                </a:solidFill>
              </a:defRPr>
            </a:lvl1pPr>
          </a:lstStyle>
          <a:p>
            <a:r>
              <a:t>1</a:t>
            </a:r>
          </a:p>
        </p:txBody>
      </p:sp>
      <p:sp>
        <p:nvSpPr>
          <p:cNvPr id="99" name="Step title 1"/>
          <p:cNvSpPr txBox="1"/>
          <p:nvPr/>
        </p:nvSpPr>
        <p:spPr>
          <a:xfrm>
            <a:off x="640080" y="3017520"/>
            <a:ext cx="2487854" cy="2939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200" b="1"/>
            </a:lvl1pPr>
          </a:lstStyle>
          <a:p>
            <a:r>
              <a:t>Address</a:t>
            </a:r>
          </a:p>
        </p:txBody>
      </p:sp>
      <p:sp>
        <p:nvSpPr>
          <p:cNvPr id="100" name="Step body 1"/>
          <p:cNvSpPr txBox="1"/>
          <p:nvPr/>
        </p:nvSpPr>
        <p:spPr>
          <a:xfrm>
            <a:off x="640080" y="3520440"/>
            <a:ext cx="2396415" cy="6437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chemeClr val="accent5"/>
                </a:solidFill>
              </a:defRPr>
            </a:lvl1pPr>
          </a:lstStyle>
          <a:p>
            <a:r>
              <a:t>Geocoded with the official GUGiK address register, matching the exact building.</a:t>
            </a:r>
          </a:p>
        </p:txBody>
      </p:sp>
      <p:sp>
        <p:nvSpPr>
          <p:cNvPr id="101" name="Connector 2"/>
          <p:cNvSpPr/>
          <p:nvPr/>
        </p:nvSpPr>
        <p:spPr>
          <a:xfrm>
            <a:off x="4197782" y="2423160"/>
            <a:ext cx="1948359" cy="1"/>
          </a:xfrm>
          <a:prstGeom prst="line">
            <a:avLst/>
          </a:prstGeom>
          <a:ln w="19050">
            <a:solidFill>
              <a:schemeClr val="accent6"/>
            </a:solidFill>
          </a:ln>
        </p:spPr>
        <p:txBody>
          <a:bodyPr lIns="45719" rIns="45719"/>
          <a:lstStyle/>
          <a:p>
            <a:endParaRPr/>
          </a:p>
        </p:txBody>
      </p:sp>
      <p:sp>
        <p:nvSpPr>
          <p:cNvPr id="102" name="Step circle 2"/>
          <p:cNvSpPr/>
          <p:nvPr/>
        </p:nvSpPr>
        <p:spPr>
          <a:xfrm>
            <a:off x="3447974" y="2103120"/>
            <a:ext cx="640081" cy="640081"/>
          </a:xfrm>
          <a:prstGeom prst="ellipse">
            <a:avLst/>
          </a:prstGeom>
          <a:solidFill>
            <a:srgbClr val="101828"/>
          </a:solidFill>
          <a:ln w="12700">
            <a:miter lim="400000"/>
          </a:ln>
        </p:spPr>
        <p:txBody>
          <a:bodyPr lIns="45719" rIns="45719"/>
          <a:lstStyle/>
          <a:p>
            <a:endParaRPr/>
          </a:p>
        </p:txBody>
      </p:sp>
      <p:sp>
        <p:nvSpPr>
          <p:cNvPr id="103" name="Step number 2"/>
          <p:cNvSpPr txBox="1"/>
          <p:nvPr/>
        </p:nvSpPr>
        <p:spPr>
          <a:xfrm>
            <a:off x="3447974" y="2298789"/>
            <a:ext cx="640081" cy="248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000" b="1">
                <a:solidFill>
                  <a:srgbClr val="FFFFFF"/>
                </a:solidFill>
              </a:defRPr>
            </a:lvl1pPr>
          </a:lstStyle>
          <a:p>
            <a:r>
              <a:t>2</a:t>
            </a:r>
          </a:p>
        </p:txBody>
      </p:sp>
      <p:sp>
        <p:nvSpPr>
          <p:cNvPr id="104" name="Step title 2"/>
          <p:cNvSpPr txBox="1"/>
          <p:nvPr/>
        </p:nvSpPr>
        <p:spPr>
          <a:xfrm>
            <a:off x="3447974" y="3017520"/>
            <a:ext cx="2487854" cy="2939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200" b="1"/>
            </a:lvl1pPr>
          </a:lstStyle>
          <a:p>
            <a:r>
              <a:t>Red areas</a:t>
            </a:r>
          </a:p>
        </p:txBody>
      </p:sp>
      <p:sp>
        <p:nvSpPr>
          <p:cNvPr id="105" name="Step body 2"/>
          <p:cNvSpPr txBox="1"/>
          <p:nvPr/>
        </p:nvSpPr>
        <p:spPr>
          <a:xfrm>
            <a:off x="3447974" y="3520440"/>
            <a:ext cx="2396415" cy="11009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chemeClr val="accent5"/>
                </a:solidFill>
              </a:defRPr>
            </a:lvl1pPr>
          </a:lstStyle>
          <a:p>
            <a:r>
              <a:t>Airspace zones, 565 OpenStreetMap footprints of airports, military and government sites, and building heights.</a:t>
            </a:r>
          </a:p>
        </p:txBody>
      </p:sp>
      <p:sp>
        <p:nvSpPr>
          <p:cNvPr id="106" name="Connector 3"/>
          <p:cNvSpPr/>
          <p:nvPr/>
        </p:nvSpPr>
        <p:spPr>
          <a:xfrm>
            <a:off x="7005676" y="2423160"/>
            <a:ext cx="1948359" cy="1"/>
          </a:xfrm>
          <a:prstGeom prst="line">
            <a:avLst/>
          </a:prstGeom>
          <a:ln w="19050">
            <a:solidFill>
              <a:schemeClr val="accent6"/>
            </a:solidFill>
          </a:ln>
        </p:spPr>
        <p:txBody>
          <a:bodyPr lIns="45719" rIns="45719"/>
          <a:lstStyle/>
          <a:p>
            <a:endParaRPr/>
          </a:p>
        </p:txBody>
      </p:sp>
      <p:sp>
        <p:nvSpPr>
          <p:cNvPr id="107" name="Step circle 3"/>
          <p:cNvSpPr/>
          <p:nvPr/>
        </p:nvSpPr>
        <p:spPr>
          <a:xfrm>
            <a:off x="6255868" y="2103120"/>
            <a:ext cx="640081" cy="640081"/>
          </a:xfrm>
          <a:prstGeom prst="ellipse">
            <a:avLst/>
          </a:prstGeom>
          <a:solidFill>
            <a:srgbClr val="101828"/>
          </a:solidFill>
          <a:ln w="12700">
            <a:miter lim="400000"/>
          </a:ln>
        </p:spPr>
        <p:txBody>
          <a:bodyPr lIns="45719" rIns="45719"/>
          <a:lstStyle/>
          <a:p>
            <a:endParaRPr/>
          </a:p>
        </p:txBody>
      </p:sp>
      <p:sp>
        <p:nvSpPr>
          <p:cNvPr id="108" name="Step number 3"/>
          <p:cNvSpPr txBox="1"/>
          <p:nvPr/>
        </p:nvSpPr>
        <p:spPr>
          <a:xfrm>
            <a:off x="6255868" y="2298789"/>
            <a:ext cx="640081" cy="248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000" b="1">
                <a:solidFill>
                  <a:srgbClr val="FFFFFF"/>
                </a:solidFill>
              </a:defRPr>
            </a:lvl1pPr>
          </a:lstStyle>
          <a:p>
            <a:r>
              <a:t>3</a:t>
            </a:r>
          </a:p>
        </p:txBody>
      </p:sp>
      <p:sp>
        <p:nvSpPr>
          <p:cNvPr id="109" name="Step title 3"/>
          <p:cNvSpPr txBox="1"/>
          <p:nvPr/>
        </p:nvSpPr>
        <p:spPr>
          <a:xfrm>
            <a:off x="6255868" y="3017520"/>
            <a:ext cx="248785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200" b="1"/>
            </a:lvl1pPr>
          </a:lstStyle>
          <a:p>
            <a:r>
              <a:rPr dirty="0"/>
              <a:t>A</a:t>
            </a:r>
            <a:r>
              <a:rPr lang="en-US" dirty="0"/>
              <a:t>-Star</a:t>
            </a:r>
            <a:r>
              <a:rPr dirty="0"/>
              <a:t> search</a:t>
            </a:r>
          </a:p>
        </p:txBody>
      </p:sp>
      <p:sp>
        <p:nvSpPr>
          <p:cNvPr id="110" name="Step body 3"/>
          <p:cNvSpPr txBox="1"/>
          <p:nvPr/>
        </p:nvSpPr>
        <p:spPr>
          <a:xfrm>
            <a:off x="6255868" y="3520440"/>
            <a:ext cx="2396415"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chemeClr val="accent5"/>
                </a:solidFill>
              </a:defRPr>
            </a:lvl1pPr>
          </a:lstStyle>
          <a:p>
            <a:r>
              <a:rPr lang="en-US" dirty="0"/>
              <a:t>Path Finding Algorithm with given constraints </a:t>
            </a:r>
            <a:endParaRPr dirty="0"/>
          </a:p>
        </p:txBody>
      </p:sp>
      <p:sp>
        <p:nvSpPr>
          <p:cNvPr id="111" name="Step circle 4"/>
          <p:cNvSpPr/>
          <p:nvPr/>
        </p:nvSpPr>
        <p:spPr>
          <a:xfrm>
            <a:off x="9063760" y="2103120"/>
            <a:ext cx="640081" cy="640081"/>
          </a:xfrm>
          <a:prstGeom prst="ellipse">
            <a:avLst/>
          </a:prstGeom>
          <a:solidFill>
            <a:srgbClr val="101828"/>
          </a:solidFill>
          <a:ln w="12700">
            <a:miter lim="400000"/>
          </a:ln>
        </p:spPr>
        <p:txBody>
          <a:bodyPr lIns="45719" rIns="45719"/>
          <a:lstStyle/>
          <a:p>
            <a:endParaRPr/>
          </a:p>
        </p:txBody>
      </p:sp>
      <p:sp>
        <p:nvSpPr>
          <p:cNvPr id="112" name="Step number 4"/>
          <p:cNvSpPr txBox="1"/>
          <p:nvPr/>
        </p:nvSpPr>
        <p:spPr>
          <a:xfrm>
            <a:off x="9063760" y="2298789"/>
            <a:ext cx="640081" cy="248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000" b="1">
                <a:solidFill>
                  <a:srgbClr val="FFFFFF"/>
                </a:solidFill>
              </a:defRPr>
            </a:lvl1pPr>
          </a:lstStyle>
          <a:p>
            <a:r>
              <a:t>4</a:t>
            </a:r>
          </a:p>
        </p:txBody>
      </p:sp>
      <p:sp>
        <p:nvSpPr>
          <p:cNvPr id="113" name="Step title 4"/>
          <p:cNvSpPr txBox="1"/>
          <p:nvPr/>
        </p:nvSpPr>
        <p:spPr>
          <a:xfrm>
            <a:off x="9063760" y="3017520"/>
            <a:ext cx="2487855" cy="2939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200" b="1"/>
            </a:lvl1pPr>
          </a:lstStyle>
          <a:p>
            <a:r>
              <a:t>Route + ETA</a:t>
            </a:r>
          </a:p>
        </p:txBody>
      </p:sp>
      <p:sp>
        <p:nvSpPr>
          <p:cNvPr id="114" name="Step body 4"/>
          <p:cNvSpPr txBox="1"/>
          <p:nvPr/>
        </p:nvSpPr>
        <p:spPr>
          <a:xfrm>
            <a:off x="9063760" y="3520440"/>
            <a:ext cx="2396415" cy="4151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chemeClr val="accent5"/>
                </a:solidFill>
              </a:defRPr>
            </a:lvl1pPr>
          </a:lstStyle>
          <a:p>
            <a:r>
              <a:t>Live Open-Meteo wind along the route sets the flight time.</a:t>
            </a:r>
          </a:p>
        </p:txBody>
      </p:sp>
      <p:sp>
        <p:nvSpPr>
          <p:cNvPr id="115" name="Key point card"/>
          <p:cNvSpPr/>
          <p:nvPr/>
        </p:nvSpPr>
        <p:spPr>
          <a:xfrm>
            <a:off x="640080" y="5486400"/>
            <a:ext cx="10911535" cy="594360"/>
          </a:xfrm>
          <a:prstGeom prst="roundRect">
            <a:avLst>
              <a:gd name="adj" fmla="val 15385"/>
            </a:avLst>
          </a:prstGeom>
          <a:solidFill>
            <a:srgbClr val="F4F6F8"/>
          </a:solidFill>
          <a:ln w="12700">
            <a:miter lim="400000"/>
          </a:ln>
        </p:spPr>
        <p:txBody>
          <a:bodyPr lIns="45719" rIns="45719"/>
          <a:lstStyle/>
          <a:p>
            <a:endParaRPr/>
          </a:p>
        </p:txBody>
      </p:sp>
      <p:sp>
        <p:nvSpPr>
          <p:cNvPr id="116" name="Key point"/>
          <p:cNvSpPr txBox="1"/>
          <p:nvPr/>
        </p:nvSpPr>
        <p:spPr>
          <a:xfrm>
            <a:off x="960119" y="5679003"/>
            <a:ext cx="10271457" cy="2091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600"/>
            </a:pPr>
            <a:r>
              <a:t>The map and the router read the same zone data: what you see in </a:t>
            </a:r>
            <a:r>
              <a:rPr b="1">
                <a:solidFill>
                  <a:schemeClr val="accent2"/>
                </a:solidFill>
              </a:rPr>
              <a:t>red</a:t>
            </a:r>
            <a:r>
              <a:t> is exactly what the drone avoids.</a:t>
            </a:r>
          </a:p>
        </p:txBody>
      </p:sp>
      <p:sp>
        <p:nvSpPr>
          <p:cNvPr id="117" name="Slide Number Placeholder 0"/>
          <p:cNvSpPr txBox="1">
            <a:spLocks noGrp="1"/>
          </p:cNvSpPr>
          <p:nvPr>
            <p:ph type="sldNum" sz="quarter" idx="4294967295"/>
          </p:nvPr>
        </p:nvSpPr>
        <p:spPr>
          <a:xfrm>
            <a:off x="11383106" y="6355079"/>
            <a:ext cx="168510"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ext 0"/>
          <p:cNvSpPr txBox="1">
            <a:spLocks noGrp="1"/>
          </p:cNvSpPr>
          <p:nvPr>
            <p:ph type="body" sz="quarter" idx="1"/>
          </p:nvPr>
        </p:nvSpPr>
        <p:spPr>
          <a:prstGeom prst="rect">
            <a:avLst/>
          </a:prstGeom>
        </p:spPr>
        <p:txBody>
          <a:bodyPr lIns="0" tIns="0" rIns="0" bIns="0"/>
          <a:lstStyle/>
          <a:p>
            <a:r>
              <a:t>BUILT WITH</a:t>
            </a:r>
          </a:p>
        </p:txBody>
      </p:sp>
      <p:sp>
        <p:nvSpPr>
          <p:cNvPr id="122" name="Text 0"/>
          <p:cNvSpPr txBox="1">
            <a:spLocks noGrp="1"/>
          </p:cNvSpPr>
          <p:nvPr>
            <p:ph type="title"/>
          </p:nvPr>
        </p:nvSpPr>
        <p:spPr>
          <a:xfrm>
            <a:off x="640079" y="868680"/>
            <a:ext cx="10911537" cy="822961"/>
          </a:xfrm>
          <a:prstGeom prst="rect">
            <a:avLst/>
          </a:prstGeom>
        </p:spPr>
        <p:txBody>
          <a:bodyPr lIns="0" tIns="0" rIns="0" bIns="0"/>
          <a:lstStyle>
            <a:lvl1pPr algn="l"/>
          </a:lstStyle>
          <a:p>
            <a:r>
              <a:t>Open-source stack, open data</a:t>
            </a:r>
          </a:p>
        </p:txBody>
      </p:sp>
      <p:sp>
        <p:nvSpPr>
          <p:cNvPr id="123" name="Data heading"/>
          <p:cNvSpPr txBox="1"/>
          <p:nvPr/>
        </p:nvSpPr>
        <p:spPr>
          <a:xfrm>
            <a:off x="640080" y="1874520"/>
            <a:ext cx="5212080" cy="248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000" b="1">
                <a:solidFill>
                  <a:schemeClr val="accent4"/>
                </a:solidFill>
              </a:defRPr>
            </a:lvl1pPr>
          </a:lstStyle>
          <a:p>
            <a:r>
              <a:t>Data sources</a:t>
            </a:r>
          </a:p>
        </p:txBody>
      </p:sp>
      <p:sp>
        <p:nvSpPr>
          <p:cNvPr id="124" name="Stack heading"/>
          <p:cNvSpPr txBox="1"/>
          <p:nvPr/>
        </p:nvSpPr>
        <p:spPr>
          <a:xfrm>
            <a:off x="6336791" y="1874520"/>
            <a:ext cx="5212081" cy="248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000" b="1">
                <a:solidFill>
                  <a:schemeClr val="accent4"/>
                </a:solidFill>
              </a:defRPr>
            </a:lvl1pPr>
          </a:lstStyle>
          <a:p>
            <a:r>
              <a:t>Stack</a:t>
            </a:r>
          </a:p>
        </p:txBody>
      </p:sp>
      <p:sp>
        <p:nvSpPr>
          <p:cNvPr id="125" name="Data GUGiK PRG"/>
          <p:cNvSpPr txBox="1"/>
          <p:nvPr/>
        </p:nvSpPr>
        <p:spPr>
          <a:xfrm>
            <a:off x="640080" y="2331720"/>
            <a:ext cx="5212080" cy="443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600" b="1"/>
            </a:pPr>
            <a:r>
              <a:t>GUGiK PRG</a:t>
            </a:r>
          </a:p>
          <a:p>
            <a:pPr>
              <a:defRPr sz="1400">
                <a:solidFill>
                  <a:schemeClr val="accent5"/>
                </a:solidFill>
              </a:defRPr>
            </a:pPr>
            <a:r>
              <a:t>City boundary and the 18 districts</a:t>
            </a:r>
          </a:p>
        </p:txBody>
      </p:sp>
      <p:sp>
        <p:nvSpPr>
          <p:cNvPr id="126" name="Data GUGiK UUG"/>
          <p:cNvSpPr txBox="1"/>
          <p:nvPr/>
        </p:nvSpPr>
        <p:spPr>
          <a:xfrm>
            <a:off x="640080" y="2953511"/>
            <a:ext cx="5212080" cy="443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600" b="1"/>
            </a:pPr>
            <a:r>
              <a:t>GUGiK UUG</a:t>
            </a:r>
          </a:p>
          <a:p>
            <a:pPr>
              <a:defRPr sz="1400">
                <a:solidFill>
                  <a:schemeClr val="accent5"/>
                </a:solidFill>
              </a:defRPr>
            </a:pPr>
            <a:r>
              <a:t>Official address points</a:t>
            </a:r>
          </a:p>
        </p:txBody>
      </p:sp>
      <p:sp>
        <p:nvSpPr>
          <p:cNvPr id="127" name="Data OpenStreetMap"/>
          <p:cNvSpPr txBox="1"/>
          <p:nvPr/>
        </p:nvSpPr>
        <p:spPr>
          <a:xfrm>
            <a:off x="640080" y="3575303"/>
            <a:ext cx="5212080" cy="443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600" b="1"/>
            </a:pPr>
            <a:r>
              <a:t>OpenStreetMap</a:t>
            </a:r>
          </a:p>
          <a:p>
            <a:pPr>
              <a:defRPr sz="1400">
                <a:solidFill>
                  <a:schemeClr val="accent5"/>
                </a:solidFill>
              </a:defRPr>
            </a:pPr>
            <a:r>
              <a:t>Buildings, parks, river, hospitals, airports, military, government</a:t>
            </a:r>
          </a:p>
        </p:txBody>
      </p:sp>
      <p:sp>
        <p:nvSpPr>
          <p:cNvPr id="128" name="Data Nominatim"/>
          <p:cNvSpPr txBox="1"/>
          <p:nvPr/>
        </p:nvSpPr>
        <p:spPr>
          <a:xfrm>
            <a:off x="640080" y="4197096"/>
            <a:ext cx="5212080" cy="443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600" b="1"/>
            </a:pPr>
            <a:r>
              <a:t>Nominatim</a:t>
            </a:r>
          </a:p>
          <a:p>
            <a:pPr>
              <a:defRPr sz="1400">
                <a:solidFill>
                  <a:schemeClr val="accent5"/>
                </a:solidFill>
              </a:defRPr>
            </a:pPr>
            <a:r>
              <a:t>Place search</a:t>
            </a:r>
          </a:p>
        </p:txBody>
      </p:sp>
      <p:sp>
        <p:nvSpPr>
          <p:cNvPr id="129" name="Data Open-Meteo"/>
          <p:cNvSpPr txBox="1"/>
          <p:nvPr/>
        </p:nvSpPr>
        <p:spPr>
          <a:xfrm>
            <a:off x="640080" y="4818888"/>
            <a:ext cx="5212080" cy="443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600" b="1"/>
            </a:pPr>
            <a:r>
              <a:t>Open-Meteo</a:t>
            </a:r>
          </a:p>
          <a:p>
            <a:pPr>
              <a:defRPr sz="1400">
                <a:solidFill>
                  <a:schemeClr val="accent5"/>
                </a:solidFill>
              </a:defRPr>
            </a:pPr>
            <a:r>
              <a:t>Live wind along the route</a:t>
            </a:r>
          </a:p>
        </p:txBody>
      </p:sp>
      <p:sp>
        <p:nvSpPr>
          <p:cNvPr id="130" name="Data Open Data Warsaw"/>
          <p:cNvSpPr txBox="1"/>
          <p:nvPr/>
        </p:nvSpPr>
        <p:spPr>
          <a:xfrm>
            <a:off x="640080" y="5440679"/>
            <a:ext cx="5212080" cy="443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600" b="1"/>
            </a:pPr>
            <a:r>
              <a:t>Open Data Warsaw</a:t>
            </a:r>
          </a:p>
          <a:p>
            <a:pPr>
              <a:defRPr sz="1400">
                <a:solidFill>
                  <a:schemeClr val="accent5"/>
                </a:solidFill>
              </a:defRPr>
            </a:pPr>
            <a:r>
              <a:t>Weather</a:t>
            </a:r>
          </a:p>
        </p:txBody>
      </p:sp>
      <p:sp>
        <p:nvSpPr>
          <p:cNvPr id="131" name="Stack Frontend"/>
          <p:cNvSpPr txBox="1"/>
          <p:nvPr/>
        </p:nvSpPr>
        <p:spPr>
          <a:xfrm>
            <a:off x="6336791" y="2331720"/>
            <a:ext cx="5212081" cy="443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600" b="1"/>
            </a:pPr>
            <a:r>
              <a:t>Frontend</a:t>
            </a:r>
          </a:p>
          <a:p>
            <a:pPr>
              <a:defRPr sz="1400">
                <a:solidFill>
                  <a:schemeClr val="accent5"/>
                </a:solidFill>
              </a:defRPr>
            </a:pPr>
            <a:r>
              <a:t>Angular 22, Angular Material, Leaflet on OpenStreetMap tiles</a:t>
            </a:r>
          </a:p>
        </p:txBody>
      </p:sp>
      <p:sp>
        <p:nvSpPr>
          <p:cNvPr id="132" name="Stack Backend"/>
          <p:cNvSpPr txBox="1"/>
          <p:nvPr/>
        </p:nvSpPr>
        <p:spPr>
          <a:xfrm>
            <a:off x="6336791" y="2953511"/>
            <a:ext cx="5212081" cy="443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600" b="1"/>
            </a:pPr>
            <a:r>
              <a:t>Backend</a:t>
            </a:r>
          </a:p>
          <a:p>
            <a:pPr>
              <a:defRPr sz="1400">
                <a:solidFill>
                  <a:schemeClr val="accent5"/>
                </a:solidFill>
              </a:defRPr>
            </a:pPr>
            <a:r>
              <a:t>Python and FastAPI</a:t>
            </a:r>
          </a:p>
        </p:txBody>
      </p:sp>
      <p:sp>
        <p:nvSpPr>
          <p:cNvPr id="133" name="Stack Geometry"/>
          <p:cNvSpPr txBox="1"/>
          <p:nvPr/>
        </p:nvSpPr>
        <p:spPr>
          <a:xfrm>
            <a:off x="6336791" y="3575303"/>
            <a:ext cx="5212081" cy="443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600" b="1"/>
            </a:pPr>
            <a:r>
              <a:t>Geometry</a:t>
            </a:r>
          </a:p>
          <a:p>
            <a:pPr>
              <a:defRPr sz="1400">
                <a:solidFill>
                  <a:schemeClr val="accent5"/>
                </a:solidFill>
              </a:defRPr>
            </a:pPr>
            <a:r>
              <a:t>Shapely, PyProj and NumPy</a:t>
            </a:r>
          </a:p>
        </p:txBody>
      </p:sp>
      <p:sp>
        <p:nvSpPr>
          <p:cNvPr id="134" name="Stack Routing"/>
          <p:cNvSpPr txBox="1"/>
          <p:nvPr/>
        </p:nvSpPr>
        <p:spPr>
          <a:xfrm>
            <a:off x="6336791" y="4197096"/>
            <a:ext cx="5212081" cy="443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600" b="1"/>
            </a:pPr>
            <a:r>
              <a:t>Routing</a:t>
            </a:r>
          </a:p>
          <a:p>
            <a:pPr>
              <a:defRPr sz="1400">
                <a:solidFill>
                  <a:schemeClr val="accent5"/>
                </a:solidFill>
              </a:defRPr>
            </a:pPr>
            <a:r>
              <a:t>A-Star Algorithm</a:t>
            </a:r>
          </a:p>
        </p:txBody>
      </p:sp>
      <p:sp>
        <p:nvSpPr>
          <p:cNvPr id="135" name="Slide Number Placeholder 0"/>
          <p:cNvSpPr txBox="1">
            <a:spLocks noGrp="1"/>
          </p:cNvSpPr>
          <p:nvPr>
            <p:ph type="sldNum" sz="quarter" idx="4294967295"/>
          </p:nvPr>
        </p:nvSpPr>
        <p:spPr>
          <a:xfrm>
            <a:off x="11383106" y="6355079"/>
            <a:ext cx="168510"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 0"/>
          <p:cNvSpPr txBox="1">
            <a:spLocks noGrp="1"/>
          </p:cNvSpPr>
          <p:nvPr>
            <p:ph type="body" sz="quarter" idx="1"/>
          </p:nvPr>
        </p:nvSpPr>
        <p:spPr>
          <a:prstGeom prst="rect">
            <a:avLst/>
          </a:prstGeom>
        </p:spPr>
        <p:txBody>
          <a:bodyPr lIns="0" tIns="0" rIns="0" bIns="0"/>
          <a:lstStyle/>
          <a:p>
            <a:r>
              <a:t>FUTURE IMPROVEMENTS</a:t>
            </a:r>
          </a:p>
        </p:txBody>
      </p:sp>
      <p:sp>
        <p:nvSpPr>
          <p:cNvPr id="140" name="Text 0"/>
          <p:cNvSpPr txBox="1">
            <a:spLocks noGrp="1"/>
          </p:cNvSpPr>
          <p:nvPr>
            <p:ph type="title"/>
          </p:nvPr>
        </p:nvSpPr>
        <p:spPr>
          <a:xfrm>
            <a:off x="640079" y="868680"/>
            <a:ext cx="10911537" cy="822961"/>
          </a:xfrm>
          <a:prstGeom prst="rect">
            <a:avLst/>
          </a:prstGeom>
        </p:spPr>
        <p:txBody>
          <a:bodyPr lIns="0" tIns="0" rIns="0" bIns="0"/>
          <a:lstStyle>
            <a:lvl1pPr algn="l"/>
          </a:lstStyle>
          <a:p>
            <a:r>
              <a:t>Where the routing goes next</a:t>
            </a:r>
          </a:p>
        </p:txBody>
      </p:sp>
      <p:sp>
        <p:nvSpPr>
          <p:cNvPr id="141" name="Number 1"/>
          <p:cNvSpPr txBox="1"/>
          <p:nvPr/>
        </p:nvSpPr>
        <p:spPr>
          <a:xfrm>
            <a:off x="640080" y="2194212"/>
            <a:ext cx="914401" cy="4578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3600" b="1">
                <a:solidFill>
                  <a:schemeClr val="accent4"/>
                </a:solidFill>
              </a:defRPr>
            </a:lvl1pPr>
          </a:lstStyle>
          <a:p>
            <a:r>
              <a:t>01</a:t>
            </a:r>
          </a:p>
        </p:txBody>
      </p:sp>
      <p:sp>
        <p:nvSpPr>
          <p:cNvPr id="142" name="Heading 1"/>
          <p:cNvSpPr txBox="1"/>
          <p:nvPr/>
        </p:nvSpPr>
        <p:spPr>
          <a:xfrm>
            <a:off x="1737360" y="2276192"/>
            <a:ext cx="4206241" cy="2939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200" b="1"/>
            </a:lvl1pPr>
          </a:lstStyle>
          <a:p>
            <a:r>
              <a:t>Further constraints</a:t>
            </a:r>
          </a:p>
        </p:txBody>
      </p:sp>
      <p:sp>
        <p:nvSpPr>
          <p:cNvPr id="143" name="Body 1"/>
          <p:cNvSpPr txBox="1"/>
          <p:nvPr/>
        </p:nvSpPr>
        <p:spPr>
          <a:xfrm>
            <a:off x="6217920" y="2191583"/>
            <a:ext cx="5303521" cy="4631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a:solidFill>
                  <a:schemeClr val="accent5"/>
                </a:solidFill>
              </a:defRPr>
            </a:lvl1pPr>
          </a:lstStyle>
          <a:p>
            <a:r>
              <a:t>More factors in the route cost, such as crowd density and noise, so that an even safer path is found.</a:t>
            </a:r>
          </a:p>
        </p:txBody>
      </p:sp>
      <p:sp>
        <p:nvSpPr>
          <p:cNvPr id="144" name="Row divider 1"/>
          <p:cNvSpPr/>
          <p:nvPr/>
        </p:nvSpPr>
        <p:spPr>
          <a:xfrm>
            <a:off x="640079" y="2898648"/>
            <a:ext cx="10911537" cy="1"/>
          </a:xfrm>
          <a:prstGeom prst="line">
            <a:avLst/>
          </a:prstGeom>
          <a:ln>
            <a:solidFill>
              <a:schemeClr val="accent6"/>
            </a:solidFill>
          </a:ln>
        </p:spPr>
        <p:txBody>
          <a:bodyPr lIns="45719" rIns="45719"/>
          <a:lstStyle/>
          <a:p>
            <a:endParaRPr/>
          </a:p>
        </p:txBody>
      </p:sp>
      <p:sp>
        <p:nvSpPr>
          <p:cNvPr id="145" name="Number 2"/>
          <p:cNvSpPr txBox="1"/>
          <p:nvPr/>
        </p:nvSpPr>
        <p:spPr>
          <a:xfrm>
            <a:off x="640080" y="3218340"/>
            <a:ext cx="914401" cy="4578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3600" b="1">
                <a:solidFill>
                  <a:schemeClr val="accent4"/>
                </a:solidFill>
              </a:defRPr>
            </a:lvl1pPr>
          </a:lstStyle>
          <a:p>
            <a:r>
              <a:t>02</a:t>
            </a:r>
          </a:p>
        </p:txBody>
      </p:sp>
      <p:sp>
        <p:nvSpPr>
          <p:cNvPr id="146" name="Heading 2"/>
          <p:cNvSpPr txBox="1"/>
          <p:nvPr/>
        </p:nvSpPr>
        <p:spPr>
          <a:xfrm>
            <a:off x="1737360" y="3300320"/>
            <a:ext cx="4206241" cy="2939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200" b="1"/>
            </a:lvl1pPr>
          </a:lstStyle>
          <a:p>
            <a:r>
              <a:t>Collision handling</a:t>
            </a:r>
          </a:p>
        </p:txBody>
      </p:sp>
      <p:sp>
        <p:nvSpPr>
          <p:cNvPr id="147" name="Body 2"/>
          <p:cNvSpPr txBox="1"/>
          <p:nvPr/>
        </p:nvSpPr>
        <p:spPr>
          <a:xfrm>
            <a:off x="6217920" y="3342711"/>
            <a:ext cx="5303521" cy="2091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a:solidFill>
                  <a:schemeClr val="accent5"/>
                </a:solidFill>
              </a:defRPr>
            </a:lvl1pPr>
          </a:lstStyle>
          <a:p>
            <a:r>
              <a:t>Keep drones separated when several fly at the same time.</a:t>
            </a:r>
          </a:p>
        </p:txBody>
      </p:sp>
      <p:sp>
        <p:nvSpPr>
          <p:cNvPr id="148" name="Row divider 2"/>
          <p:cNvSpPr/>
          <p:nvPr/>
        </p:nvSpPr>
        <p:spPr>
          <a:xfrm>
            <a:off x="640079" y="3922776"/>
            <a:ext cx="10911537" cy="1"/>
          </a:xfrm>
          <a:prstGeom prst="line">
            <a:avLst/>
          </a:prstGeom>
          <a:ln>
            <a:solidFill>
              <a:schemeClr val="accent6"/>
            </a:solidFill>
          </a:ln>
        </p:spPr>
        <p:txBody>
          <a:bodyPr lIns="45719" rIns="45719"/>
          <a:lstStyle/>
          <a:p>
            <a:endParaRPr/>
          </a:p>
        </p:txBody>
      </p:sp>
      <p:sp>
        <p:nvSpPr>
          <p:cNvPr id="149" name="Number 3"/>
          <p:cNvSpPr txBox="1"/>
          <p:nvPr/>
        </p:nvSpPr>
        <p:spPr>
          <a:xfrm>
            <a:off x="640080" y="4242468"/>
            <a:ext cx="914401" cy="4578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3600" b="1">
                <a:solidFill>
                  <a:schemeClr val="accent4"/>
                </a:solidFill>
              </a:defRPr>
            </a:lvl1pPr>
          </a:lstStyle>
          <a:p>
            <a:r>
              <a:t>03</a:t>
            </a:r>
          </a:p>
        </p:txBody>
      </p:sp>
      <p:sp>
        <p:nvSpPr>
          <p:cNvPr id="150" name="Heading 3"/>
          <p:cNvSpPr txBox="1"/>
          <p:nvPr/>
        </p:nvSpPr>
        <p:spPr>
          <a:xfrm>
            <a:off x="1737360" y="4324448"/>
            <a:ext cx="4206241" cy="2939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200" b="1"/>
            </a:lvl1pPr>
          </a:lstStyle>
          <a:p>
            <a:r>
              <a:t>Drone stations</a:t>
            </a:r>
          </a:p>
        </p:txBody>
      </p:sp>
      <p:sp>
        <p:nvSpPr>
          <p:cNvPr id="151" name="Body 3"/>
          <p:cNvSpPr txBox="1"/>
          <p:nvPr/>
        </p:nvSpPr>
        <p:spPr>
          <a:xfrm>
            <a:off x="6217920" y="4366839"/>
            <a:ext cx="5303521" cy="2091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a:solidFill>
                  <a:schemeClr val="accent5"/>
                </a:solidFill>
              </a:defRPr>
            </a:lvl1pPr>
          </a:lstStyle>
          <a:p>
            <a:r>
              <a:t>Landing and charging stations as part of route planning.</a:t>
            </a:r>
          </a:p>
        </p:txBody>
      </p:sp>
      <p:sp>
        <p:nvSpPr>
          <p:cNvPr id="152" name="Row divider 3"/>
          <p:cNvSpPr/>
          <p:nvPr/>
        </p:nvSpPr>
        <p:spPr>
          <a:xfrm>
            <a:off x="640079" y="4946903"/>
            <a:ext cx="10911537" cy="1"/>
          </a:xfrm>
          <a:prstGeom prst="line">
            <a:avLst/>
          </a:prstGeom>
          <a:ln>
            <a:solidFill>
              <a:schemeClr val="accent6"/>
            </a:solidFill>
          </a:ln>
        </p:spPr>
        <p:txBody>
          <a:bodyPr lIns="45719" rIns="45719"/>
          <a:lstStyle/>
          <a:p>
            <a:endParaRPr/>
          </a:p>
        </p:txBody>
      </p:sp>
      <p:sp>
        <p:nvSpPr>
          <p:cNvPr id="153" name="Number 4"/>
          <p:cNvSpPr txBox="1"/>
          <p:nvPr/>
        </p:nvSpPr>
        <p:spPr>
          <a:xfrm>
            <a:off x="640080" y="5266596"/>
            <a:ext cx="914401" cy="4578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3600" b="1">
                <a:solidFill>
                  <a:schemeClr val="accent4"/>
                </a:solidFill>
              </a:defRPr>
            </a:lvl1pPr>
          </a:lstStyle>
          <a:p>
            <a:r>
              <a:t>04</a:t>
            </a:r>
          </a:p>
        </p:txBody>
      </p:sp>
      <p:sp>
        <p:nvSpPr>
          <p:cNvPr id="154" name="Heading 4"/>
          <p:cNvSpPr txBox="1"/>
          <p:nvPr/>
        </p:nvSpPr>
        <p:spPr>
          <a:xfrm>
            <a:off x="1737360" y="5348576"/>
            <a:ext cx="4206241" cy="2939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200" b="1"/>
            </a:lvl1pPr>
          </a:lstStyle>
          <a:p>
            <a:r>
              <a:t>Integrating with multiple solutions</a:t>
            </a:r>
          </a:p>
        </p:txBody>
      </p:sp>
      <p:sp>
        <p:nvSpPr>
          <p:cNvPr id="155" name="Body 4"/>
          <p:cNvSpPr txBox="1"/>
          <p:nvPr/>
        </p:nvSpPr>
        <p:spPr>
          <a:xfrm>
            <a:off x="6217920" y="5263967"/>
            <a:ext cx="5303521" cy="4631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a:solidFill>
                  <a:schemeClr val="accent5"/>
                </a:solidFill>
              </a:defRPr>
            </a:lvl1pPr>
          </a:lstStyle>
          <a:p>
            <a:r>
              <a:t>Open DDS to other solutions, such as hospital and logistics tools.</a:t>
            </a:r>
          </a:p>
        </p:txBody>
      </p:sp>
      <p:sp>
        <p:nvSpPr>
          <p:cNvPr id="156" name="Slide Number Placeholder 0"/>
          <p:cNvSpPr txBox="1">
            <a:spLocks noGrp="1"/>
          </p:cNvSpPr>
          <p:nvPr>
            <p:ph type="sldNum" sz="quarter" idx="4294967295"/>
          </p:nvPr>
        </p:nvSpPr>
        <p:spPr>
          <a:xfrm>
            <a:off x="11383106" y="6355079"/>
            <a:ext cx="168510"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6</a:t>
            </a:fld>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ext 0"/>
          <p:cNvSpPr txBox="1">
            <a:spLocks noGrp="1"/>
          </p:cNvSpPr>
          <p:nvPr>
            <p:ph type="body" idx="1"/>
          </p:nvPr>
        </p:nvSpPr>
        <p:spPr>
          <a:xfrm>
            <a:off x="616611" y="1230450"/>
            <a:ext cx="10958778" cy="3298689"/>
          </a:xfrm>
          <a:prstGeom prst="rect">
            <a:avLst/>
          </a:prstGeom>
        </p:spPr>
        <p:txBody>
          <a:bodyPr lIns="0" tIns="0" rIns="0" bIns="0"/>
          <a:lstStyle>
            <a:lvl1pPr algn="ctr">
              <a:defRPr sz="7400" spc="1850"/>
            </a:lvl1pPr>
          </a:lstStyle>
          <a:p>
            <a:r>
              <a:t>Time for  Prototype</a:t>
            </a:r>
          </a:p>
        </p:txBody>
      </p:sp>
      <p:sp>
        <p:nvSpPr>
          <p:cNvPr id="161" name="Slide Number Placeholder 0"/>
          <p:cNvSpPr txBox="1">
            <a:spLocks noGrp="1"/>
          </p:cNvSpPr>
          <p:nvPr>
            <p:ph type="sldNum" sz="quarter" idx="4294967295"/>
          </p:nvPr>
        </p:nvSpPr>
        <p:spPr>
          <a:xfrm>
            <a:off x="11383106" y="6355079"/>
            <a:ext cx="168510"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solidFill>
                  <a:schemeClr val="accent6"/>
                </a:solidFill>
              </a:defRPr>
            </a:lvl1pPr>
          </a:lstStyle>
          <a:p>
            <a:fld id="{86CB4B4D-7CA3-9044-876B-883B54F8677D}" type="slidenum">
              <a:rPr/>
              <a:t>7</a:t>
            </a:fld>
            <a:endParaRPr/>
          </a:p>
        </p:txBody>
      </p:sp>
    </p:spTree>
  </p:cSld>
  <p:clrMapOvr>
    <a:masterClrMapping/>
  </p:clrMapOvr>
  <p:transition spd="med"/>
</p:sld>
</file>

<file path=ppt/theme/theme1.xml><?xml version="1.0" encoding="utf-8"?>
<a:theme xmlns:a="http://schemas.openxmlformats.org/drawingml/2006/main" name="SkyRoute Minimal">
  <a:themeElements>
    <a:clrScheme name="SkyRoute Minimal">
      <a:dk1>
        <a:srgbClr val="101828"/>
      </a:dk1>
      <a:lt1>
        <a:srgbClr val="0B1B2B"/>
      </a:lt1>
      <a:dk2>
        <a:srgbClr val="A7A7A7"/>
      </a:dk2>
      <a:lt2>
        <a:srgbClr val="535353"/>
      </a:lt2>
      <a:accent1>
        <a:srgbClr val="1FA971"/>
      </a:accent1>
      <a:accent2>
        <a:srgbClr val="B42318"/>
      </a:accent2>
      <a:accent3>
        <a:srgbClr val="667085"/>
      </a:accent3>
      <a:accent4>
        <a:srgbClr val="0B7A4B"/>
      </a:accent4>
      <a:accent5>
        <a:srgbClr val="475467"/>
      </a:accent5>
      <a:accent6>
        <a:srgbClr val="D0D5DD"/>
      </a:accent6>
      <a:hlink>
        <a:srgbClr val="0000FF"/>
      </a:hlink>
      <a:folHlink>
        <a:srgbClr val="FF00FF"/>
      </a:folHlink>
    </a:clrScheme>
    <a:fontScheme name="SkyRoute Minimal">
      <a:majorFont>
        <a:latin typeface="Calibri"/>
        <a:ea typeface="Calibri"/>
        <a:cs typeface="Calibri"/>
      </a:majorFont>
      <a:minorFont>
        <a:latin typeface="Helvetica"/>
        <a:ea typeface="Helvetica"/>
        <a:cs typeface="Helvetica"/>
      </a:minorFont>
    </a:fontScheme>
    <a:fmtScheme name="SkyRoute Minim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kyRoute Minimal">
  <a:themeElements>
    <a:clrScheme name="SkyRoute Minimal">
      <a:dk1>
        <a:srgbClr val="101828"/>
      </a:dk1>
      <a:lt1>
        <a:srgbClr val="282318"/>
      </a:lt1>
      <a:dk2>
        <a:srgbClr val="A7A7A7"/>
      </a:dk2>
      <a:lt2>
        <a:srgbClr val="535353"/>
      </a:lt2>
      <a:accent1>
        <a:srgbClr val="1FA971"/>
      </a:accent1>
      <a:accent2>
        <a:srgbClr val="B42318"/>
      </a:accent2>
      <a:accent3>
        <a:srgbClr val="667085"/>
      </a:accent3>
      <a:accent4>
        <a:srgbClr val="0B7A4B"/>
      </a:accent4>
      <a:accent5>
        <a:srgbClr val="475467"/>
      </a:accent5>
      <a:accent6>
        <a:srgbClr val="D0D5DD"/>
      </a:accent6>
      <a:hlink>
        <a:srgbClr val="0000FF"/>
      </a:hlink>
      <a:folHlink>
        <a:srgbClr val="FF00FF"/>
      </a:folHlink>
    </a:clrScheme>
    <a:fontScheme name="SkyRoute Minimal">
      <a:majorFont>
        <a:latin typeface="Calibri"/>
        <a:ea typeface="Calibri"/>
        <a:cs typeface="Calibri"/>
      </a:majorFont>
      <a:minorFont>
        <a:latin typeface="Helvetica"/>
        <a:ea typeface="Helvetica"/>
        <a:cs typeface="Helvetica"/>
      </a:minorFont>
    </a:fontScheme>
    <a:fmtScheme name="SkyRoute Minim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01828"/>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TotalTime>
  <Words>1093</Words>
  <Application>Microsoft Office PowerPoint</Application>
  <PresentationFormat>Widescreen</PresentationFormat>
  <Paragraphs>94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SkyRoute Minimal</vt:lpstr>
      <vt:lpstr>SkyRoute Warsaw</vt:lpstr>
      <vt:lpstr>Faster deliveries, safer routes</vt:lpstr>
      <vt:lpstr>SkyRoute: Maps for drones</vt:lpstr>
      <vt:lpstr>One pipeline for every route</vt:lpstr>
      <vt:lpstr>Open-source stack, open data</vt:lpstr>
      <vt:lpstr>Where the routing goes next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Muhammad Afzal</cp:lastModifiedBy>
  <cp:revision>2</cp:revision>
  <dcterms:modified xsi:type="dcterms:W3CDTF">2026-10-18T08:41:09Z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463cba9-5f6c-478d-9329-7b2295e4e8ed_Enabled">
    <vt:lpwstr>true</vt:lpwstr>
  </property>
  <property fmtid="{D5CDD505-2E9C-101B-9397-08002B2CF9AE}" pid="3" name="MSIP_Label_e463cba9-5f6c-478d-9329-7b2295e4e8ed_SetDate">
    <vt:lpwstr>2026-10-18T08:40:02Z</vt:lpwstr>
  </property>
  <property fmtid="{D5CDD505-2E9C-101B-9397-08002B2CF9AE}" pid="4" name="MSIP_Label_e463cba9-5f6c-478d-9329-7b2295e4e8ed_Method">
    <vt:lpwstr>Standard</vt:lpwstr>
  </property>
  <property fmtid="{D5CDD505-2E9C-101B-9397-08002B2CF9AE}" pid="5" name="MSIP_Label_e463cba9-5f6c-478d-9329-7b2295e4e8ed_Name">
    <vt:lpwstr>All Employees_2</vt:lpwstr>
  </property>
  <property fmtid="{D5CDD505-2E9C-101B-9397-08002B2CF9AE}" pid="6" name="MSIP_Label_e463cba9-5f6c-478d-9329-7b2295e4e8ed_SiteId">
    <vt:lpwstr>33440fc6-b7c7-412c-bb73-0e70b0198d5a</vt:lpwstr>
  </property>
  <property fmtid="{D5CDD505-2E9C-101B-9397-08002B2CF9AE}" pid="7" name="MSIP_Label_e463cba9-5f6c-478d-9329-7b2295e4e8ed_ActionId">
    <vt:lpwstr>f45cc888-2d87-4252-8869-40bac65465d0</vt:lpwstr>
  </property>
  <property fmtid="{D5CDD505-2E9C-101B-9397-08002B2CF9AE}" pid="8" name="MSIP_Label_e463cba9-5f6c-478d-9329-7b2295e4e8ed_ContentBits">
    <vt:lpwstr>0</vt:lpwstr>
  </property>
  <property fmtid="{D5CDD505-2E9C-101B-9397-08002B2CF9AE}" pid="9" name="MSIP_Label_e463cba9-5f6c-478d-9329-7b2295e4e8ed_Tag">
    <vt:lpwstr>10, 3, 0, 1</vt:lpwstr>
  </property>
</Properties>
</file>